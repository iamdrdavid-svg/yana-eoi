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5a9dc763-6753-3aa4-3c9f-90934fc78d83}">
          <p14:sldIdLst>
            <p14:sldId id="256"/>
          </p14:sldIdLst>
        </p14:section>
        <p14:section name="Proposition" id="{17d5d520-8c89-f239-195c-d48dae9ae5d5}">
          <p14:sldIdLst>
            <p14:sldId id="257"/>
          </p14:sldIdLst>
        </p14:section>
        <p14:section name="Site and access" id="{00a6afad-b0c0-0786-fbb8-0ea2aace1fa1}">
          <p14:sldIdLst>
            <p14:sldId id="258"/>
          </p14:sldIdLst>
        </p14:section>
        <p14:section name="Strategic framework" id="{7884169c-79fc-08e6-cfa9-1328a4f6ba00}">
          <p14:sldIdLst>
            <p14:sldId id="259"/>
          </p14:sldIdLst>
        </p14:section>
        <p14:section name="Comparator board" id="{fe5d650e-64a7-abd0-a97b-937f31e3906a}">
          <p14:sldIdLst>
            <p14:sldId id="260"/>
          </p14:sldIdLst>
        </p14:section>
        <p14:section name="Existing control vs proposal" id="{e98d2e5e-079c-991f-bec0-c5130c600404}">
          <p14:sldIdLst>
            <p14:sldId id="261"/>
          </p14:sldIdLst>
        </p14:section>
        <p14:section name="Tower and podium form" id="{0e84c31c-c778-6d01-caba-ccbcc4d87bcf}">
          <p14:sldIdLst>
            <p14:sldId id="262"/>
          </p14:sldIdLst>
        </p14:section>
        <p14:section name="Adjoining-site developability" id="{b84d92e5-5c17-3808-0e4b-0524d5120131}">
          <p14:sldIdLst>
            <p14:sldId id="263"/>
          </p14:sldIdLst>
        </p14:section>
        <p14:section name="Impacts summary" id="{345cf23a-ecbb-dd58-7356-d55124900a04}">
          <p14:sldIdLst>
            <p14:sldId id="264"/>
          </p14:sldIdLst>
        </p14:section>
        <p14:section name="Housing and affordable housing" id="{0ea84b10-0d06-ecd2-bbed-618a870b4d62}">
          <p14:sldIdLst>
            <p14:sldId id="265"/>
          </p14:sldIdLst>
        </p14:section>
        <p14:section name="Deliverability and programme" id="{1c2257fc-d511-ad7d-b819-58817648de7d}">
          <p14:sldIdLst>
            <p14:sldId id="266"/>
          </p14:sldIdLst>
        </p14:section>
        <p14:section name="Why this pathway" id="{fd22f8b9-34ba-6aa7-eafe-e7aca77c7860}">
          <p14:sldIdLst>
            <p14:sldId id="267"/>
          </p14:sldIdLst>
        </p14:section>
        <p14:section name="The ask" id="{1a90bba0-cef1-c5f5-e602-198b2c66d877}">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B2D"/>
                </a:solidFill>
                <a:latin typeface="+mn-lt"/>
              </a:defRPr>
            </a:pPr>
            <a:r>
              <a:rPr sz="1400" b="0" i="0" u="none" strike="noStrike">
                <a:solidFill>
                  <a:srgbClr val="1F3B2D"/>
                </a:solidFill>
                <a:latin typeface="+mn-lt"/>
              </a:rPr>
              <a:t>Maximum height by pathway (m)</a:t>
            </a:r>
          </a:p>
        </c:rich>
      </c:tx>
      <c:layout/>
      <c:overlay val="0"/>
    </c:title>
    <c:autoTitleDeleted val="0"/>
    <c:plotArea>
      <c:layout/>
      <c:barChart>
        <c:barDir val="col"/>
        <c:grouping val="clustered"/>
        <c:varyColors val="0"/>
        <c:ser>
          <c:idx val="0"/>
          <c:order val="0"/>
          <c:tx>
            <c:strRef>
              <c:f>Sheet1!$B$1</c:f>
              <c:strCache>
                <c:ptCount val="1"/>
                <c:pt idx="0">
                  <c:v>Height</c:v>
                </c:pt>
              </c:strCache>
            </c:strRef>
          </c:tx>
          <c:spPr>
            <a:solidFill>
              <a:srgbClr val="6B7A70"/>
            </a:solidFill>
            <a:effectLst/>
          </c:spPr>
          <c:invertIfNegative val="0"/>
          <c:dLbls>
            <c:numFmt formatCode="0.0&quot; m&quot;" sourceLinked="0"/>
            <c:txPr>
              <a:bodyPr/>
              <a:lstStyle/>
              <a:p>
                <a:pPr>
                  <a:defRPr b="0" i="0" strike="noStrike" sz="1200" u="none">
                    <a:solidFill>
                      <a:srgbClr val="1E2420"/>
                    </a:solidFill>
                    <a:latin typeface="+mn-lt"/>
                  </a:defRPr>
                </a:pPr>
              </a:p>
            </c:txPr>
            <c:showLegendKey val="0"/>
            <c:showVal val="1"/>
            <c:showCatName val="0"/>
            <c:showSerName val="0"/>
            <c:showPercent val="0"/>
            <c:showBubbleSize val="0"/>
            <c:showLeaderLines val="0"/>
          </c:dLbls>
          <c:dPt>
            <c:idx val="0"/>
            <c:invertIfNegative val="0"/>
            <c:bubble3D val="0"/>
            <c:spPr>
              <a:solidFill>
                <a:srgbClr val="6B7A70"/>
              </a:solidFill>
              <a:effectLst/>
            </c:spPr>
          </c:dPt>
          <c:dPt>
            <c:idx val="1"/>
            <c:invertIfNegative val="0"/>
            <c:bubble3D val="0"/>
            <c:spPr>
              <a:solidFill>
                <a:srgbClr val="6B7A70"/>
              </a:solidFill>
              <a:effectLst/>
            </c:spPr>
          </c:dPt>
          <c:dPt>
            <c:idx val="2"/>
            <c:invertIfNegative val="0"/>
            <c:bubble3D val="0"/>
            <c:spPr>
              <a:solidFill>
                <a:srgbClr val="B8863B"/>
              </a:solidFill>
              <a:effectLst/>
            </c:spPr>
          </c:dPt>
          <c:cat>
            <c:multiLvlStrRef>
              <c:f>Sheet1!$A$2:$A$4</c:f>
              <c:multiLvlStrCache>
                <c:ptCount val="3"/>
                <c:lvl>
                  <c:pt idx="0">
                    <c:v>LEP control</c:v>
                  </c:pt>
                  <c:pt idx="1">
                    <c:v>LMR + in-fill bonus</c:v>
                  </c:pt>
                  <c:pt idx="2">
                    <c:v>Proposal</c:v>
                  </c:pt>
                </c:lvl>
              </c:multiLvlStrCache>
            </c:multiLvlStrRef>
          </c:cat>
          <c:val>
            <c:numRef>
              <c:f>Sheet1!$B$2:$B$4</c:f>
              <c:numCache>
                <c:formatCode>General</c:formatCode>
                <c:ptCount val="3"/>
                <c:pt idx="0">
                  <c:v>16</c:v>
                </c:pt>
                <c:pt idx="1">
                  <c:v>22.75</c:v>
                </c:pt>
                <c:pt idx="2">
                  <c:v>133.9</c:v>
                </c:pt>
              </c:numCache>
            </c:numRef>
          </c:val>
        </c:ser>
        <c:dLbls>
          <c:numFmt formatCode="0.0&quot; m&quot;" sourceLinked="0"/>
          <c:txPr>
            <a:bodyPr/>
            <a:lstStyle/>
            <a:p>
              <a:pPr>
                <a:defRPr b="0" i="0" strike="noStrike" sz="1200" u="none">
                  <a:solidFill>
                    <a:srgbClr val="1E242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E242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B-2 (Planner / Arcadia): 1:5,000 at A3. Shortest public pedestrian route from the site's nearest pedestrian entry point to the nearest Castle Hill Metro station entrance, measured along footpaths and crossings, with the distance annotated (pack states about 623 m). State both end points and the date measured. Show the 400 m and 800 m walking catchments and the bus stop on Old Northern Road (routes 600, 603, 610X).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Drafting note: Hard rule 2: no reliance on the Appendix D map, no radius claim, s9.1 direction not presented as binding on the EOI.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B-5 (Furtado Sullivan / Arcadia): One axonometric of the Castle Hill centre from the south-east, showing YANA and only schemes whose height is confirmed from a primary source at drafting: 16-20 Old Castle Hill Rd (40 storeys), 244-248 Old Northern Rd (height per its SEARs request), 2-4 &amp; 22-28 Garthowen Cres (up to 36 storeys), 93-107 Cecil Ave (23 to 35 storeys, per DPHI portal), Castle Hill Metro. Label each with storeys, status (declared / SSD lodged / proposed) and source. Do not show 'potential uplift' or TOD envelopes.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B-3 (Furtado Sullivan): Two street elevations (Cecil Ave and Hume Ave) at 1:1,000, same scale, side by side. Draw: the 16 m LEP height plane; the Low and Mid-Rise standard plus in-fill bonus plane at 22.75 m (planner to confirm inner or outer area); the proposal to top of plant (RL 248.90, 127.9 m) and to the 6 m design-tolerance envelope (RL 254.90, 133.9 m). Label RLs, storeys and ground RL 121.00. No rendering; line drawing with a single tone for the proposal.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B-4 (Furtado Sullivan): Ground floor plan (retail, lobby, vehicle entry, deep soil, through-site movement if any), Level 1 amenity plan, typical tower plan (L4-L37: 945 m² GBA / 735 m² GFA, apartments per floor per the p24 floor types), and one section through podium and tower with floor-to-floor heights (GF 5.0 m, L1 4.5 m, typical 3.2 m) and basements (B1 4.5 m, B2 3.0 m). Show setbacks to Cecil and Hume Avenues and side boundaries, and the ADG separation achieved.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B-6 (Furtado Sullivan / Arcadia): Plan and 3D massing showing a plausible residential envelope on each adjoining holding (81-87 Cecil Ave, 8,416 m²; the 2,600 m² adjoining lot to the south-west — not 25 Hume Ave, which is part of the site (owner, 5 Oct 2026); confirm its address), each meeting ADG building separation to YANA and achieving 2 hours mid-winter solar to 70% of its own apartments. State the assumed height and FSR for each and whether each meets cl 4.1A on its own. Include a mid-winter shadow overlay from YANA on both.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B-7 (Furtado Sullivan): 21 June, hourly 9am-3pm, plan view, showing shadow from the 133.9 m envelope across adjoining residential land, Sherwin Avenue Reserve and the heritage items on pack p10 (Former Castle Hill Public School, St Paul's Cemetery, Wansbrough House). Note any public open space affected and for how long.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B-8 (Furtado Sullivan): Schedule of affordable dwellings equal to 3% of residential GFA (about 866 m²; confirm count), by level and type, shown on a stacking diagram. Distribute across at least three levels; same finishes and amenity access as market apartments. Basis (GFA vs dwellings) not yet decided by the owner; show both counts.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YANA · 77-79 Cecil Ave &amp; 25 Hume Ave, Castle Hill · HDA EOI concept scheme · Indicative only, not for determination · DRAFT 7 Oct 2026</a:t>
            </a:r>
            <a:endParaRPr lang="en-US" sz="1000" dirty="0"/>
          </a:p>
        </p:txBody>
      </p:sp>
      <p:sp>
        <p:nvSpPr>
          <p:cNvPr id="3" name="Text 1"/>
          <p:cNvSpPr/>
          <p:nvPr>
            <p:ph idx="101" type="title" hasCustomPrompt="1"/>
          </p:nvPr>
        </p:nvSpPr>
        <p:spPr>
          <a:xfrm>
            <a:off x="457200" y="320040"/>
            <a:ext cx="11274552" cy="105156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txBox="1"/>
          <p:nvPr/>
        </p:nvSpPr>
        <p:spPr>
          <a:xfrm>
            <a:off x="457200" y="6400800"/>
            <a:ext cx="9875520" cy="274320"/>
          </a:xfrm>
          <a:prstGeom prst="rect">
            <a:avLst/>
          </a:prstGeom>
          <a:noFill/>
          <a:ln/>
        </p:spPr>
        <p:txBody>
          <a:bodyPr wrap="square" lIns="0" tIns="0" rIns="0" bIns="0" rtlCol="0" anchor="ctr"/>
          <a:lstStyle/>
          <a:p>
            <a:pPr indent="0" marL="0">
              <a:buNone/>
            </a:pPr>
            <a:r>
              <a:rPr lang="en-US" sz="1000" dirty="0">
                <a:solidFill>
                  <a:schemeClr val="accent6"/>
                </a:solidFill>
              </a:rPr>
              <a:t>YANA · 77-79 Cecil Ave &amp; 25 Hume Ave, Castle Hill · HDA EOI concept scheme · Indicative only, not for determination · DRAFT 7 Oct 2026</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1005840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YANA</a:t>
            </a:r>
            <a:endParaRPr lang="en-US" sz="6600" dirty="0"/>
          </a:p>
        </p:txBody>
      </p:sp>
      <p:sp>
        <p:nvSpPr>
          <p:cNvPr id="3" name="Text 1"/>
          <p:cNvSpPr txBox="1"/>
          <p:nvPr/>
        </p:nvSpPr>
        <p:spPr>
          <a:xfrm>
            <a:off x="731520" y="2468880"/>
            <a:ext cx="10515600" cy="548640"/>
          </a:xfrm>
          <a:prstGeom prst="rect">
            <a:avLst/>
          </a:prstGeom>
          <a:noFill/>
          <a:ln/>
        </p:spPr>
        <p:txBody>
          <a:bodyPr wrap="square" lIns="0" tIns="0" rIns="0" bIns="0" rtlCol="0" anchor="ctr"/>
          <a:lstStyle/>
          <a:p>
            <a:pPr indent="0" marL="0">
              <a:buNone/>
            </a:pPr>
            <a:r>
              <a:rPr lang="en-US" sz="2400" dirty="0">
                <a:solidFill>
                  <a:schemeClr val="bg1"/>
                </a:solidFill>
              </a:rPr>
              <a:t>77-79 Cecil Avenue &amp; 25 Hume Avenue, Castle Hill · Dharug Country</a:t>
            </a:r>
            <a:endParaRPr lang="en-US" sz="2400" dirty="0"/>
          </a:p>
        </p:txBody>
      </p:sp>
      <p:sp>
        <p:nvSpPr>
          <p:cNvPr id="4" name="Text 2"/>
          <p:cNvSpPr txBox="1"/>
          <p:nvPr/>
        </p:nvSpPr>
        <p:spPr>
          <a:xfrm>
            <a:off x="731520" y="3108960"/>
            <a:ext cx="10515600" cy="457200"/>
          </a:xfrm>
          <a:prstGeom prst="rect">
            <a:avLst/>
          </a:prstGeom>
          <a:noFill/>
          <a:ln/>
        </p:spPr>
        <p:txBody>
          <a:bodyPr wrap="square" lIns="0" tIns="0" rIns="0" bIns="0" rtlCol="0" anchor="ctr"/>
          <a:lstStyle/>
          <a:p>
            <a:pPr indent="0" marL="0">
              <a:buNone/>
            </a:pPr>
            <a:r>
              <a:rPr lang="en-US" sz="1800" dirty="0">
                <a:solidFill>
                  <a:schemeClr val="accent6"/>
                </a:solidFill>
              </a:rPr>
              <a:t>HDA expression of interest · concept scheme · SSD with concurrent rezoning</a:t>
            </a:r>
            <a:endParaRPr lang="en-US" sz="1800" dirty="0"/>
          </a:p>
        </p:txBody>
      </p:sp>
      <p:sp>
        <p:nvSpPr>
          <p:cNvPr id="5" name="status-box"/>
          <p:cNvSpPr/>
          <p:nvPr/>
        </p:nvSpPr>
        <p:spPr>
          <a:xfrm>
            <a:off x="731520" y="4206240"/>
            <a:ext cx="7863840" cy="1005840"/>
          </a:xfrm>
          <a:prstGeom prst="roundRect">
            <a:avLst>
              <a:gd name="adj" fmla="val 9091"/>
            </a:avLst>
          </a:prstGeom>
          <a:solidFill>
            <a:schemeClr val="bg1">
              <a:alpha val="12000"/>
            </a:schemeClr>
          </a:solidFill>
          <a:ln w="12700">
            <a:solidFill>
              <a:schemeClr val="accent1"/>
            </a:solidFill>
            <a:prstDash val="solid"/>
          </a:ln>
        </p:spPr>
      </p:sp>
      <p:sp>
        <p:nvSpPr>
          <p:cNvPr id="6" name="Text 4"/>
          <p:cNvSpPr txBox="1"/>
          <p:nvPr/>
        </p:nvSpPr>
        <p:spPr>
          <a:xfrm>
            <a:off x="914400" y="4206240"/>
            <a:ext cx="7498080" cy="1005840"/>
          </a:xfrm>
          <a:prstGeom prst="rect">
            <a:avLst/>
          </a:prstGeom>
          <a:noFill/>
          <a:ln/>
        </p:spPr>
        <p:txBody>
          <a:bodyPr wrap="square" lIns="0" tIns="0" rIns="0" bIns="0" rtlCol="0" anchor="ctr"/>
          <a:lstStyle/>
          <a:p>
            <a:pPr indent="0" marL="0">
              <a:buNone/>
            </a:pPr>
            <a:r>
              <a:rPr lang="en-US" sz="1600" dirty="0">
                <a:solidFill>
                  <a:schemeClr val="bg1"/>
                </a:solidFill>
              </a:rPr>
              <a:t>Indicative only — not for determination. Draft for owner review, loop 4, 7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243 homes, 623 m from Castle Hill Metro, with 3% affordable housing in perpetuity</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PROPOSITION</a:t>
            </a:r>
            <a:endParaRPr lang="en-US" sz="1000" dirty="0"/>
          </a:p>
        </p:txBody>
      </p:sp>
      <p:sp>
        <p:nvSpPr>
          <p:cNvPr id="4" name="stat-0"/>
          <p:cNvSpPr/>
          <p:nvPr/>
        </p:nvSpPr>
        <p:spPr>
          <a:xfrm>
            <a:off x="457200" y="1554480"/>
            <a:ext cx="2651760" cy="1234440"/>
          </a:xfrm>
          <a:prstGeom prst="roundRect">
            <a:avLst>
              <a:gd name="adj" fmla="val 7407"/>
            </a:avLst>
          </a:prstGeom>
          <a:solidFill>
            <a:schemeClr val="bg2"/>
          </a:solidFill>
          <a:ln w="12700">
            <a:solidFill>
              <a:schemeClr val="bg2"/>
            </a:solidFill>
            <a:prstDash val="solid"/>
          </a:ln>
        </p:spPr>
      </p:sp>
      <p:sp>
        <p:nvSpPr>
          <p:cNvPr id="5" name="Text 3"/>
          <p:cNvSpPr txBox="1"/>
          <p:nvPr/>
        </p:nvSpPr>
        <p:spPr>
          <a:xfrm>
            <a:off x="457200" y="1600200"/>
            <a:ext cx="2651760" cy="685800"/>
          </a:xfrm>
          <a:prstGeom prst="rect">
            <a:avLst/>
          </a:prstGeom>
          <a:noFill/>
          <a:ln/>
        </p:spPr>
        <p:txBody>
          <a:bodyPr wrap="square" lIns="0" tIns="0" rIns="0" bIns="0" rtlCol="0" anchor="ctr"/>
          <a:lstStyle/>
          <a:p>
            <a:pPr algn="ctr" indent="0" marL="0">
              <a:buNone/>
            </a:pPr>
            <a:r>
              <a:rPr lang="en-US" sz="4000" b="1" dirty="0">
                <a:solidFill>
                  <a:schemeClr val="tx2"/>
                </a:solidFill>
                <a:latin typeface="Cambria" pitchFamily="34" charset="0"/>
                <a:ea typeface="Cambria" pitchFamily="34" charset="-122"/>
                <a:cs typeface="Cambria" pitchFamily="34" charset="-120"/>
              </a:rPr>
              <a:t>243</a:t>
            </a:r>
            <a:endParaRPr lang="en-US" sz="4000" dirty="0"/>
          </a:p>
        </p:txBody>
      </p:sp>
      <p:sp>
        <p:nvSpPr>
          <p:cNvPr id="6" name="Text 4"/>
          <p:cNvSpPr txBox="1"/>
          <p:nvPr/>
        </p:nvSpPr>
        <p:spPr>
          <a:xfrm>
            <a:off x="548640" y="2286000"/>
            <a:ext cx="2468880" cy="457200"/>
          </a:xfrm>
          <a:prstGeom prst="rect">
            <a:avLst/>
          </a:prstGeom>
          <a:noFill/>
          <a:ln/>
        </p:spPr>
        <p:txBody>
          <a:bodyPr wrap="square" lIns="0" tIns="0" rIns="0" bIns="0" rtlCol="0" anchor="ctr"/>
          <a:lstStyle/>
          <a:p>
            <a:pPr algn="ctr" indent="0" marL="0">
              <a:buNone/>
            </a:pPr>
            <a:r>
              <a:rPr lang="en-US" sz="1200" dirty="0">
                <a:solidFill>
                  <a:schemeClr val="tx1"/>
                </a:solidFill>
              </a:rPr>
              <a:t>homes</a:t>
            </a:r>
            <a:endParaRPr lang="en-US" sz="1200" dirty="0"/>
          </a:p>
        </p:txBody>
      </p:sp>
      <p:sp>
        <p:nvSpPr>
          <p:cNvPr id="7" name="stat-1"/>
          <p:cNvSpPr/>
          <p:nvPr/>
        </p:nvSpPr>
        <p:spPr>
          <a:xfrm>
            <a:off x="3331464" y="1554480"/>
            <a:ext cx="2651760" cy="1234440"/>
          </a:xfrm>
          <a:prstGeom prst="roundRect">
            <a:avLst>
              <a:gd name="adj" fmla="val 7407"/>
            </a:avLst>
          </a:prstGeom>
          <a:solidFill>
            <a:schemeClr val="bg2"/>
          </a:solidFill>
          <a:ln w="12700">
            <a:solidFill>
              <a:schemeClr val="bg2"/>
            </a:solidFill>
            <a:prstDash val="solid"/>
          </a:ln>
        </p:spPr>
      </p:sp>
      <p:sp>
        <p:nvSpPr>
          <p:cNvPr id="8" name="Text 6"/>
          <p:cNvSpPr txBox="1"/>
          <p:nvPr/>
        </p:nvSpPr>
        <p:spPr>
          <a:xfrm>
            <a:off x="3331464" y="1600200"/>
            <a:ext cx="2651760" cy="685800"/>
          </a:xfrm>
          <a:prstGeom prst="rect">
            <a:avLst/>
          </a:prstGeom>
          <a:noFill/>
          <a:ln/>
        </p:spPr>
        <p:txBody>
          <a:bodyPr wrap="square" lIns="0" tIns="0" rIns="0" bIns="0" rtlCol="0" anchor="ctr"/>
          <a:lstStyle/>
          <a:p>
            <a:pPr algn="ctr" indent="0" marL="0">
              <a:buNone/>
            </a:pPr>
            <a:r>
              <a:rPr lang="en-US" sz="4000" b="1" dirty="0">
                <a:solidFill>
                  <a:schemeClr val="tx2"/>
                </a:solidFill>
                <a:latin typeface="Cambria" pitchFamily="34" charset="0"/>
                <a:ea typeface="Cambria" pitchFamily="34" charset="-122"/>
                <a:cs typeface="Cambria" pitchFamily="34" charset="-120"/>
              </a:rPr>
              <a:t>133.9 m</a:t>
            </a:r>
            <a:endParaRPr lang="en-US" sz="4000" dirty="0"/>
          </a:p>
        </p:txBody>
      </p:sp>
      <p:sp>
        <p:nvSpPr>
          <p:cNvPr id="9" name="Text 7"/>
          <p:cNvSpPr txBox="1"/>
          <p:nvPr/>
        </p:nvSpPr>
        <p:spPr>
          <a:xfrm>
            <a:off x="3422904" y="2286000"/>
            <a:ext cx="2468880" cy="457200"/>
          </a:xfrm>
          <a:prstGeom prst="rect">
            <a:avLst/>
          </a:prstGeom>
          <a:noFill/>
          <a:ln/>
        </p:spPr>
        <p:txBody>
          <a:bodyPr wrap="square" lIns="0" tIns="0" rIns="0" bIns="0" rtlCol="0" anchor="ctr"/>
          <a:lstStyle/>
          <a:p>
            <a:pPr algn="ctr" indent="0" marL="0">
              <a:buNone/>
            </a:pPr>
            <a:r>
              <a:rPr lang="en-US" sz="1200" dirty="0">
                <a:solidFill>
                  <a:schemeClr val="tx1"/>
                </a:solidFill>
              </a:rPr>
              <a:t>height incl. 6 m tolerance</a:t>
            </a:r>
            <a:endParaRPr lang="en-US" sz="1200" dirty="0"/>
          </a:p>
        </p:txBody>
      </p:sp>
      <p:sp>
        <p:nvSpPr>
          <p:cNvPr id="10" name="stat-2"/>
          <p:cNvSpPr/>
          <p:nvPr/>
        </p:nvSpPr>
        <p:spPr>
          <a:xfrm>
            <a:off x="6205728" y="1554480"/>
            <a:ext cx="2651760" cy="1234440"/>
          </a:xfrm>
          <a:prstGeom prst="roundRect">
            <a:avLst>
              <a:gd name="adj" fmla="val 7407"/>
            </a:avLst>
          </a:prstGeom>
          <a:solidFill>
            <a:schemeClr val="bg2"/>
          </a:solidFill>
          <a:ln w="12700">
            <a:solidFill>
              <a:schemeClr val="bg2"/>
            </a:solidFill>
            <a:prstDash val="solid"/>
          </a:ln>
        </p:spPr>
      </p:sp>
      <p:sp>
        <p:nvSpPr>
          <p:cNvPr id="11" name="Text 9"/>
          <p:cNvSpPr txBox="1"/>
          <p:nvPr/>
        </p:nvSpPr>
        <p:spPr>
          <a:xfrm>
            <a:off x="6205728" y="1600200"/>
            <a:ext cx="2651760" cy="685800"/>
          </a:xfrm>
          <a:prstGeom prst="rect">
            <a:avLst/>
          </a:prstGeom>
          <a:noFill/>
          <a:ln/>
        </p:spPr>
        <p:txBody>
          <a:bodyPr wrap="square" lIns="0" tIns="0" rIns="0" bIns="0" rtlCol="0" anchor="ctr"/>
          <a:lstStyle/>
          <a:p>
            <a:pPr algn="ctr" indent="0" marL="0">
              <a:buNone/>
            </a:pPr>
            <a:r>
              <a:rPr lang="en-US" sz="4000" b="1" dirty="0">
                <a:solidFill>
                  <a:schemeClr val="tx2"/>
                </a:solidFill>
                <a:latin typeface="Cambria" pitchFamily="34" charset="0"/>
                <a:ea typeface="Cambria" pitchFamily="34" charset="-122"/>
                <a:cs typeface="Cambria" pitchFamily="34" charset="-120"/>
              </a:rPr>
              <a:t>623 m</a:t>
            </a:r>
            <a:endParaRPr lang="en-US" sz="4000" dirty="0"/>
          </a:p>
        </p:txBody>
      </p:sp>
      <p:sp>
        <p:nvSpPr>
          <p:cNvPr id="12" name="Text 10"/>
          <p:cNvSpPr txBox="1"/>
          <p:nvPr/>
        </p:nvSpPr>
        <p:spPr>
          <a:xfrm>
            <a:off x="6297168" y="2286000"/>
            <a:ext cx="2468880" cy="457200"/>
          </a:xfrm>
          <a:prstGeom prst="rect">
            <a:avLst/>
          </a:prstGeom>
          <a:noFill/>
          <a:ln/>
        </p:spPr>
        <p:txBody>
          <a:bodyPr wrap="square" lIns="0" tIns="0" rIns="0" bIns="0" rtlCol="0" anchor="ctr"/>
          <a:lstStyle/>
          <a:p>
            <a:pPr algn="ctr" indent="0" marL="0">
              <a:buNone/>
            </a:pPr>
            <a:r>
              <a:rPr lang="en-US" sz="1200" dirty="0">
                <a:solidFill>
                  <a:schemeClr val="tx1"/>
                </a:solidFill>
              </a:rPr>
              <a:t>walk to Metro</a:t>
            </a:r>
            <a:endParaRPr lang="en-US" sz="1200" dirty="0"/>
          </a:p>
        </p:txBody>
      </p:sp>
      <p:sp>
        <p:nvSpPr>
          <p:cNvPr id="13" name="stat-3"/>
          <p:cNvSpPr/>
          <p:nvPr/>
        </p:nvSpPr>
        <p:spPr>
          <a:xfrm>
            <a:off x="9079992" y="1554480"/>
            <a:ext cx="2651760" cy="1234440"/>
          </a:xfrm>
          <a:prstGeom prst="roundRect">
            <a:avLst>
              <a:gd name="adj" fmla="val 7407"/>
            </a:avLst>
          </a:prstGeom>
          <a:solidFill>
            <a:schemeClr val="bg2"/>
          </a:solidFill>
          <a:ln w="12700">
            <a:solidFill>
              <a:schemeClr val="bg2"/>
            </a:solidFill>
            <a:prstDash val="solid"/>
          </a:ln>
        </p:spPr>
      </p:sp>
      <p:sp>
        <p:nvSpPr>
          <p:cNvPr id="14" name="Text 12"/>
          <p:cNvSpPr txBox="1"/>
          <p:nvPr/>
        </p:nvSpPr>
        <p:spPr>
          <a:xfrm>
            <a:off x="9079992" y="1600200"/>
            <a:ext cx="2651760" cy="685800"/>
          </a:xfrm>
          <a:prstGeom prst="rect">
            <a:avLst/>
          </a:prstGeom>
          <a:noFill/>
          <a:ln/>
        </p:spPr>
        <p:txBody>
          <a:bodyPr wrap="square" lIns="0" tIns="0" rIns="0" bIns="0" rtlCol="0" anchor="ctr"/>
          <a:lstStyle/>
          <a:p>
            <a:pPr algn="ctr" indent="0" marL="0">
              <a:buNone/>
            </a:pPr>
            <a:r>
              <a:rPr lang="en-US" sz="4000" b="1" dirty="0">
                <a:solidFill>
                  <a:schemeClr val="tx2"/>
                </a:solidFill>
                <a:latin typeface="Cambria" pitchFamily="34" charset="0"/>
                <a:ea typeface="Cambria" pitchFamily="34" charset="-122"/>
                <a:cs typeface="Cambria" pitchFamily="34" charset="-120"/>
              </a:rPr>
              <a:t>3%</a:t>
            </a:r>
            <a:endParaRPr lang="en-US" sz="4000" dirty="0"/>
          </a:p>
        </p:txBody>
      </p:sp>
      <p:sp>
        <p:nvSpPr>
          <p:cNvPr id="15" name="Text 13"/>
          <p:cNvSpPr txBox="1"/>
          <p:nvPr/>
        </p:nvSpPr>
        <p:spPr>
          <a:xfrm>
            <a:off x="9171432" y="2286000"/>
            <a:ext cx="2468880" cy="457200"/>
          </a:xfrm>
          <a:prstGeom prst="rect">
            <a:avLst/>
          </a:prstGeom>
          <a:noFill/>
          <a:ln/>
        </p:spPr>
        <p:txBody>
          <a:bodyPr wrap="square" lIns="0" tIns="0" rIns="0" bIns="0" rtlCol="0" anchor="ctr"/>
          <a:lstStyle/>
          <a:p>
            <a:pPr algn="ctr" indent="0" marL="0">
              <a:buNone/>
            </a:pPr>
            <a:r>
              <a:rPr lang="en-US" sz="1200" dirty="0">
                <a:solidFill>
                  <a:schemeClr val="tx1"/>
                </a:solidFill>
              </a:rPr>
              <a:t>affordable, in perpetuity</a:t>
            </a:r>
            <a:endParaRPr lang="en-US" sz="1200" dirty="0"/>
          </a:p>
        </p:txBody>
      </p:sp>
      <p:sp>
        <p:nvSpPr>
          <p:cNvPr id="16" name="tag-0"/>
          <p:cNvSpPr/>
          <p:nvPr/>
        </p:nvSpPr>
        <p:spPr>
          <a:xfrm>
            <a:off x="457200" y="3099816"/>
            <a:ext cx="1874520" cy="475488"/>
          </a:xfrm>
          <a:prstGeom prst="roundRect">
            <a:avLst>
              <a:gd name="adj" fmla="val 15385"/>
            </a:avLst>
          </a:prstGeom>
          <a:solidFill>
            <a:schemeClr val="accent2"/>
          </a:solidFill>
          <a:ln w="12700">
            <a:solidFill>
              <a:schemeClr val="accent2"/>
            </a:solidFill>
            <a:prstDash val="solid"/>
          </a:ln>
        </p:spPr>
      </p:sp>
      <p:sp>
        <p:nvSpPr>
          <p:cNvPr id="17" name="Text 15"/>
          <p:cNvSpPr txBox="1"/>
          <p:nvPr/>
        </p:nvSpPr>
        <p:spPr>
          <a:xfrm>
            <a:off x="457200" y="30998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8" name="item-0"/>
          <p:cNvSpPr txBox="1"/>
          <p:nvPr/>
        </p:nvSpPr>
        <p:spPr>
          <a:xfrm>
            <a:off x="2514600" y="3063240"/>
            <a:ext cx="9217152"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2,048 m² corner site at Cecil and Hume Avenues, zoned R4 High Density Residential.</a:t>
            </a:r>
            <a:endParaRPr lang="en-US" sz="1400" dirty="0"/>
          </a:p>
          <a:p>
            <a:pPr indent="0" marL="0">
              <a:spcAft>
                <a:spcPts val="200"/>
              </a:spcAft>
              <a:buNone/>
            </a:pPr>
            <a:r>
              <a:rPr lang="en-US" sz="1100" i="1" dirty="0">
                <a:solidFill>
                  <a:schemeClr val="accent5"/>
                </a:solidFill>
              </a:rPr>
              <a:t>Source: Pack p2, p14</a:t>
            </a:r>
            <a:endParaRPr lang="en-US" sz="1400" dirty="0"/>
          </a:p>
        </p:txBody>
      </p:sp>
      <p:sp>
        <p:nvSpPr>
          <p:cNvPr id="19" name="tag-1"/>
          <p:cNvSpPr/>
          <p:nvPr/>
        </p:nvSpPr>
        <p:spPr>
          <a:xfrm>
            <a:off x="457200" y="4197096"/>
            <a:ext cx="1874520" cy="475488"/>
          </a:xfrm>
          <a:prstGeom prst="roundRect">
            <a:avLst>
              <a:gd name="adj" fmla="val 15385"/>
            </a:avLst>
          </a:prstGeom>
          <a:solidFill>
            <a:schemeClr val="accent3"/>
          </a:solidFill>
          <a:ln w="12700">
            <a:solidFill>
              <a:schemeClr val="accent3"/>
            </a:solidFill>
            <a:prstDash val="solid"/>
          </a:ln>
        </p:spPr>
      </p:sp>
      <p:sp>
        <p:nvSpPr>
          <p:cNvPr id="20" name="Text 18"/>
          <p:cNvSpPr txBox="1"/>
          <p:nvPr/>
        </p:nvSpPr>
        <p:spPr>
          <a:xfrm>
            <a:off x="457200" y="419709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21" name="item-1"/>
          <p:cNvSpPr txBox="1"/>
          <p:nvPr/>
        </p:nvSpPr>
        <p:spPr>
          <a:xfrm>
            <a:off x="2514600" y="4160520"/>
            <a:ext cx="9217152"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 single tower, 133.9 m including a 6 m design tolerance: 38 residential storeys plus rooftop plant on a podium. 28,865 m² GFA (14.09:1).</a:t>
            </a:r>
            <a:endParaRPr lang="en-US" sz="1400" dirty="0"/>
          </a:p>
          <a:p>
            <a:pPr indent="0" marL="0">
              <a:spcAft>
                <a:spcPts val="200"/>
              </a:spcAft>
              <a:buNone/>
            </a:pPr>
            <a:r>
              <a:rPr lang="en-US" sz="1100" i="1" dirty="0">
                <a:solidFill>
                  <a:schemeClr val="accent5"/>
                </a:solidFill>
              </a:rPr>
              <a:t>Source: Pack p24; storey count with planner</a:t>
            </a:r>
            <a:endParaRPr lang="en-US" sz="1400" dirty="0"/>
          </a:p>
        </p:txBody>
      </p:sp>
      <p:sp>
        <p:nvSpPr>
          <p:cNvPr id="22" name="tag-2"/>
          <p:cNvSpPr/>
          <p:nvPr/>
        </p:nvSpPr>
        <p:spPr>
          <a:xfrm>
            <a:off x="457200" y="5294376"/>
            <a:ext cx="1874520" cy="475488"/>
          </a:xfrm>
          <a:prstGeom prst="roundRect">
            <a:avLst>
              <a:gd name="adj" fmla="val 15385"/>
            </a:avLst>
          </a:prstGeom>
          <a:solidFill>
            <a:schemeClr val="accent4"/>
          </a:solidFill>
          <a:ln w="12700">
            <a:solidFill>
              <a:schemeClr val="accent4"/>
            </a:solidFill>
            <a:prstDash val="solid"/>
          </a:ln>
        </p:spPr>
      </p:sp>
      <p:sp>
        <p:nvSpPr>
          <p:cNvPr id="23" name="Text 21"/>
          <p:cNvSpPr txBox="1"/>
          <p:nvPr/>
        </p:nvSpPr>
        <p:spPr>
          <a:xfrm>
            <a:off x="457200" y="52943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24" name="item-2"/>
          <p:cNvSpPr txBox="1"/>
          <p:nvPr/>
        </p:nvSpPr>
        <p:spPr>
          <a:xfrm>
            <a:off x="2514600" y="5257800"/>
            <a:ext cx="9217152"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Final height, floor space, affordable dwelling count and impacts are put forward for testing through SEARs, design review and exhibition.</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A consolidated corner site within a 10-minute walk of Metro, buses and centre services</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SITE AND ACCESS</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About 623 m walk to Castle Hill Metro: Chatswood about 20 minutes, Sydney CBD about 35 minutes.</a:t>
            </a:r>
            <a:endParaRPr lang="en-US" sz="1400" dirty="0"/>
          </a:p>
          <a:p>
            <a:pPr indent="0" marL="0">
              <a:spcAft>
                <a:spcPts val="200"/>
              </a:spcAft>
              <a:buNone/>
            </a:pPr>
            <a:r>
              <a:rPr lang="en-US" sz="1100" i="1" dirty="0">
                <a:solidFill>
                  <a:schemeClr val="accent5"/>
                </a:solidFill>
              </a:rPr>
              <a:t>Source: Pack p2, p7, p8</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Bus routes 600, 603 and 610X stop on Old Northern Road, about 7 minutes' walk.</a:t>
            </a:r>
            <a:endParaRPr lang="en-US" sz="1400" dirty="0"/>
          </a:p>
          <a:p>
            <a:pPr indent="0" marL="0">
              <a:spcAft>
                <a:spcPts val="200"/>
              </a:spcAft>
              <a:buNone/>
            </a:pPr>
            <a:r>
              <a:rPr lang="en-US" sz="1100" i="1" dirty="0">
                <a:solidFill>
                  <a:schemeClr val="accent5"/>
                </a:solidFill>
              </a:rPr>
              <a:t>Source: Pack p8</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Castle Towers, Castle Mall, the library, schools and the police station are within walking distance.</a:t>
            </a:r>
            <a:endParaRPr lang="en-US" sz="1400" dirty="0"/>
          </a:p>
          <a:p>
            <a:pPr indent="0" marL="0">
              <a:spcAft>
                <a:spcPts val="200"/>
              </a:spcAft>
              <a:buNone/>
            </a:pPr>
            <a:r>
              <a:rPr lang="en-US" sz="1100" i="1" dirty="0">
                <a:solidFill>
                  <a:schemeClr val="accent5"/>
                </a:solidFill>
              </a:rPr>
              <a:t>Source: Pack p12</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2"/>
          </a:solidFill>
          <a:ln w="12700">
            <a:solidFill>
              <a:schemeClr val="accent2"/>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Three lots, Lots 1-3 DP 713156 (25 Hume Ave, 79 Cecil Ave, 77 Cecil Ave), in consolidated ownership. No further amalgamation needed.</a:t>
            </a:r>
            <a:endParaRPr lang="en-US" sz="1400" dirty="0"/>
          </a:p>
          <a:p>
            <a:pPr indent="0" marL="0">
              <a:spcAft>
                <a:spcPts val="200"/>
              </a:spcAft>
              <a:buNone/>
            </a:pPr>
            <a:r>
              <a:rPr lang="en-US" sz="1100" i="1" dirty="0">
                <a:solidFill>
                  <a:schemeClr val="accent5"/>
                </a:solidFill>
              </a:rPr>
              <a:t>Source: Pack p3; owner 5 Oct 2026; title evidence to follow</a:t>
            </a:r>
            <a:endParaRPr lang="en-US" sz="1400" dirty="0"/>
          </a:p>
        </p:txBody>
      </p:sp>
      <p:sp>
        <p:nvSpPr>
          <p:cNvPr id="16"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7" name="Text 15"/>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B-2: Measured walking-route plan to Castle Hill Metro</a:t>
            </a:r>
            <a:endParaRPr lang="en-US" sz="1100" dirty="0"/>
          </a:p>
          <a:p>
            <a:pPr algn="ctr" indent="0" marL="0">
              <a:spcAft>
                <a:spcPts val="600"/>
              </a:spcAft>
              <a:buNone/>
            </a:pPr>
            <a:r>
              <a:rPr lang="en-US" sz="1200" dirty="0">
                <a:solidFill>
                  <a:schemeClr val="tx1"/>
                </a:solidFill>
              </a:rPr>
              <a:t>To: Planner / Arcadia</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Current State policy asks for housing capacity that will actually be built, in serviced centres</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STRATEGIC FRAMEWORK</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9217152"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Sydney Plan (V1.0) commenced on 13 August 2026 with the State Land Use Plan as the current framework.</a:t>
            </a:r>
            <a:endParaRPr lang="en-US" sz="1400" dirty="0"/>
          </a:p>
          <a:p>
            <a:pPr indent="0" marL="0">
              <a:spcAft>
                <a:spcPts val="200"/>
              </a:spcAft>
              <a:buNone/>
            </a:pPr>
            <a:r>
              <a:rPr lang="en-US" sz="1100" i="1" dirty="0">
                <a:solidFill>
                  <a:schemeClr val="accent5"/>
                </a:solidFill>
              </a:rPr>
              <a:t>Source: R-k1</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9217152"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SLUP Feasible Housing Capacity Policy (Appendix C) separates zoned capacity from capacity that is feasible and realisable.</a:t>
            </a:r>
            <a:endParaRPr lang="en-US" sz="1400" dirty="0"/>
          </a:p>
          <a:p>
            <a:pPr indent="0" marL="0">
              <a:spcAft>
                <a:spcPts val="200"/>
              </a:spcAft>
              <a:buNone/>
            </a:pPr>
            <a:r>
              <a:rPr lang="en-US" sz="1100" i="1" dirty="0">
                <a:solidFill>
                  <a:schemeClr val="accent5"/>
                </a:solidFill>
              </a:rPr>
              <a:t>Source: R-e2 (to verify)</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2" name="item-2"/>
          <p:cNvSpPr txBox="1"/>
          <p:nvPr/>
        </p:nvSpPr>
        <p:spPr>
          <a:xfrm>
            <a:off x="2514600" y="3886200"/>
            <a:ext cx="9217152"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Hills Shire's target is 23,300 completed homes by 2029.</a:t>
            </a:r>
            <a:endParaRPr lang="en-US" sz="1400" dirty="0"/>
          </a:p>
          <a:p>
            <a:pPr indent="0" marL="0">
              <a:spcAft>
                <a:spcPts val="200"/>
              </a:spcAft>
              <a:buNone/>
            </a:pPr>
            <a:r>
              <a:rPr lang="en-US" sz="1100" i="1" dirty="0">
                <a:solidFill>
                  <a:schemeClr val="accent5"/>
                </a:solidFill>
              </a:rPr>
              <a:t>Source: R-k6</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3"/>
          </a:solidFill>
          <a:ln w="12700">
            <a:solidFill>
              <a:schemeClr val="accent3"/>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15" name="item-3"/>
          <p:cNvSpPr txBox="1"/>
          <p:nvPr/>
        </p:nvSpPr>
        <p:spPr>
          <a:xfrm>
            <a:off x="2514600" y="5029200"/>
            <a:ext cx="9217152"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YANA turns a 16 m control on a 2,048 m² lot into a defined, serviced, programmed scheme of 243 homes. The framework does not set its height or FSR.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Castle Hill already has towers of up to 40 storeys in the State pipeline</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COMPARATOR BOARD</a:t>
            </a:r>
            <a:endParaRPr lang="en-US" sz="1000" dirty="0"/>
          </a:p>
        </p:txBody>
      </p:sp>
      <p:graphicFrame>
        <p:nvGraphicFramePr>
          <p:cNvPr id="6" name="comparator-table"/>
          <p:cNvGraphicFramePr>
            <a:graphicFrameLocks noGrp="1"/>
          </p:cNvGraphicFramePr>
          <p:nvPr>
            <p:extLst>
              <p:ext uri="{D42A27DB-BD31-4B8C-83A1-F6EECF244321}">
                <p14:modId xmlns:p14="http://schemas.microsoft.com/office/powerpoint/2010/main" val="1579011935"/>
              </p:ext>
            </p:extLst>
          </p:nvPr>
        </p:nvGraphicFramePr>
        <p:xfrm>
          <a:off x="457200" y="1554480"/>
          <a:ext cx="7589520" cy="914400"/>
        </p:xfrm>
        <a:graphic>
          <a:graphicData uri="http://schemas.openxmlformats.org/drawingml/2006/table">
            <a:tbl>
              <a:tblPr/>
              <a:tblGrid>
                <a:gridCol w="1828800"/>
                <a:gridCol w="777240"/>
                <a:gridCol w="731520"/>
                <a:gridCol w="1463040"/>
                <a:gridCol w="1874520"/>
                <a:gridCol w="914400"/>
              </a:tblGrid>
              <a:tr h="0">
                <a:tc>
                  <a:txBody>
                    <a:bodyPr/>
                    <a:lstStyle/>
                    <a:p>
                      <a:pPr indent="0" marL="0">
                        <a:buNone/>
                      </a:pPr>
                      <a:r>
                        <a:rPr lang="en-US" sz="1200" b="1" dirty="0">
                          <a:solidFill>
                            <a:schemeClr val="bg1"/>
                          </a:solidFill>
                        </a:rPr>
                        <a:t>Site</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Storeys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Homes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Affordable offer</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Status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Source</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16-20 Old Castle Hill Rd</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40</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371</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42 homes, 15 years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Declared; EIS exhibited 1-15 Oct 2026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R-j5</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rPr>
                        <a:t>2-4 &amp; 22-28 Garthowen Cres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up to 36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of GFA, 15 years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Recommended 15 Jun 2026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R-j3</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rPr>
                        <a:t>36 Carrington Rd</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up to 40</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394</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Preparing EIS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Pack p16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rPr>
                        <a:t>93-107 Cecil Ave &amp; 9-10 Roger Ave</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23 to 35</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610</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117 homes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SSD under assessment</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Owner, Sep 2026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rPr>
                        <a:t>244-248 Old Northern Rd</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not stated</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up to 200</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10%</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Declared; preparing EIS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R-j6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YANA, 77-79 Cecil &amp; 25 Hume</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38 + plant</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243</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3%, in perpetuity</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EOI</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Pack p24</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r>
            </a:tbl>
          </a:graphicData>
        </a:graphic>
      </p:graphicFrame>
      <p:sp>
        <p:nvSpPr>
          <p:cNvPr id="5" name="tag-0"/>
          <p:cNvSpPr/>
          <p:nvPr/>
        </p:nvSpPr>
        <p:spPr>
          <a:xfrm>
            <a:off x="457200" y="5294376"/>
            <a:ext cx="1874520" cy="475488"/>
          </a:xfrm>
          <a:prstGeom prst="roundRect">
            <a:avLst>
              <a:gd name="adj" fmla="val 15385"/>
            </a:avLst>
          </a:prstGeom>
          <a:solidFill>
            <a:schemeClr val="accent2"/>
          </a:solidFill>
          <a:ln w="12700">
            <a:solidFill>
              <a:schemeClr val="accent2"/>
            </a:solidFill>
            <a:prstDash val="solid"/>
          </a:ln>
        </p:spPr>
      </p:sp>
      <p:sp>
        <p:nvSpPr>
          <p:cNvPr id="6" name="Text 3"/>
          <p:cNvSpPr txBox="1"/>
          <p:nvPr/>
        </p:nvSpPr>
        <p:spPr>
          <a:xfrm>
            <a:off x="457200" y="52943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7" name="item-0"/>
          <p:cNvSpPr txBox="1"/>
          <p:nvPr/>
        </p:nvSpPr>
        <p:spPr>
          <a:xfrm>
            <a:off x="2514600" y="5257800"/>
            <a:ext cx="5532120" cy="91440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Rows marked R-j were read from DPHI and Planning Portal pages on 7 October 2026. The planner is to check every row before lodgement.</a:t>
            </a:r>
            <a:endParaRPr lang="en-US" sz="1400" dirty="0"/>
          </a:p>
          <a:p>
            <a:pPr indent="0" marL="0">
              <a:spcAft>
                <a:spcPts val="200"/>
              </a:spcAft>
              <a:buNone/>
            </a:pPr>
            <a:r>
              <a:rPr lang="en-US" sz="1100" i="1" dirty="0">
                <a:solidFill>
                  <a:schemeClr val="accent5"/>
                </a:solidFill>
              </a:rPr>
              <a:t>Source: Research log section j</a:t>
            </a:r>
            <a:endParaRPr lang="en-US" sz="1400" dirty="0"/>
          </a:p>
        </p:txBody>
      </p:sp>
      <p:sp>
        <p:nvSpPr>
          <p:cNvPr id="8" name="drawing-placeholder"/>
          <p:cNvSpPr/>
          <p:nvPr/>
        </p:nvSpPr>
        <p:spPr>
          <a:xfrm>
            <a:off x="8321040" y="1554480"/>
            <a:ext cx="3410712" cy="4572000"/>
          </a:xfrm>
          <a:prstGeom prst="rect">
            <a:avLst/>
          </a:prstGeom>
          <a:solidFill>
            <a:schemeClr val="bg2"/>
          </a:solidFill>
          <a:ln w="15875">
            <a:solidFill>
              <a:schemeClr val="accent5"/>
            </a:solidFill>
            <a:prstDash val="dash"/>
          </a:ln>
        </p:spPr>
      </p:sp>
      <p:sp>
        <p:nvSpPr>
          <p:cNvPr id="9" name="Text 6"/>
          <p:cNvSpPr txBox="1"/>
          <p:nvPr/>
        </p:nvSpPr>
        <p:spPr>
          <a:xfrm>
            <a:off x="8549640" y="1783080"/>
            <a:ext cx="2953512" cy="411480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B-5: Comparator board — centre massing</a:t>
            </a:r>
            <a:endParaRPr lang="en-US" sz="1100" dirty="0"/>
          </a:p>
          <a:p>
            <a:pPr algn="ctr" indent="0" marL="0">
              <a:spcAft>
                <a:spcPts val="600"/>
              </a:spcAft>
              <a:buNone/>
            </a:pPr>
            <a:r>
              <a:rPr lang="en-US" sz="1200" dirty="0">
                <a:solidFill>
                  <a:schemeClr val="tx1"/>
                </a:solidFill>
              </a:rPr>
              <a:t>To: Furtado Sullivan / Arcadia</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Current controls allow about 16 m; the proposal seeks 133.9 m through a concurrent rezoning</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EXISTING CONTROL VS PROPOSAL</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LEP height of buildings 16 m. No mapped FSR. Clause 4.1A minimum site area for a residential flat building is 4,000 m².</a:t>
            </a:r>
            <a:endParaRPr lang="en-US" sz="1400" dirty="0"/>
          </a:p>
          <a:p>
            <a:pPr indent="0" marL="0">
              <a:spcAft>
                <a:spcPts val="200"/>
              </a:spcAft>
              <a:buNone/>
            </a:pPr>
            <a:r>
              <a:rPr lang="en-US" sz="1100" i="1" dirty="0">
                <a:solidFill>
                  <a:schemeClr val="accent5"/>
                </a:solidFill>
              </a:rPr>
              <a:t>Source: Pack p14; locked position</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Low and Mid-Rise housing standards apply around Castle Hill: 17.5 m at this distance. The in-fill affordable housing bonus adds 30%, to 22.75 m.</a:t>
            </a:r>
            <a:endParaRPr lang="en-US" sz="1400" dirty="0"/>
          </a:p>
          <a:p>
            <a:pPr indent="0" marL="0">
              <a:spcAft>
                <a:spcPts val="200"/>
              </a:spcAft>
              <a:buNone/>
            </a:pPr>
            <a:r>
              <a:rPr lang="en-US" sz="1100" i="1" dirty="0">
                <a:solidFill>
                  <a:schemeClr val="accent5"/>
                </a:solidFill>
              </a:rPr>
              <a:t>Source: R-k2, R-k3; planner to confirm inner or outer area</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3"/>
          </a:solidFill>
          <a:ln w="12700">
            <a:solidFill>
              <a:schemeClr val="accent3"/>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Proposal: 127.9 m to top of plant, 133.9 m including a 6 m design tolerance. Ground RL 121.00, top RL 254.90.</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4"/>
          </a:solidFill>
          <a:ln w="12700">
            <a:solidFill>
              <a:schemeClr val="accent4"/>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Whether this height is appropriate is a matter for full merit assessment.</a:t>
            </a:r>
            <a:endParaRPr lang="en-US" sz="1400" dirty="0"/>
          </a:p>
        </p:txBody>
      </p:sp>
      <p:sp>
        <p:nvSpPr>
          <p:cNvPr id="16"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7" name="Text 15"/>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B-3: Existing-control line vs proposal elevation</a:t>
            </a:r>
            <a:endParaRPr lang="en-US" sz="1100" dirty="0"/>
          </a:p>
          <a:p>
            <a:pPr algn="ctr" indent="0" marL="0">
              <a:spcAft>
                <a:spcPts val="600"/>
              </a:spcAft>
              <a:buNone/>
            </a:pPr>
            <a:r>
              <a:rPr lang="en-US" sz="1200" dirty="0">
                <a:solidFill>
                  <a:schemeClr val="tx1"/>
                </a:solidFill>
              </a:rPr>
              <a:t>To: Furtado Sullivan</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One slender tower on a two-level podium keeps the street active and the plate efficient</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TOWER AND PODIUM FORM</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3"/>
          </a:solidFill>
          <a:ln w="12700">
            <a:solidFill>
              <a:schemeClr val="accent3"/>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Ground floor: retail and residential lobby, 5.0 m floor-to-floor. Level 1: resident amenity, 4.5 m.</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Typical tower floor (L4-L37): 945 m² gross building area, 735 m² GFA, 3.2 m floor-to-floor.</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3"/>
          </a:solidFill>
          <a:ln w="12700">
            <a:solidFill>
              <a:schemeClr val="accent3"/>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Outdoor communal open space about 30% of site area, with landscape and deep soil at ground level.</a:t>
            </a:r>
            <a:endParaRPr lang="en-US" sz="1400" dirty="0"/>
          </a:p>
          <a:p>
            <a:pPr indent="0" marL="0">
              <a:spcAft>
                <a:spcPts val="200"/>
              </a:spcAft>
              <a:buNone/>
            </a:pPr>
            <a:r>
              <a:rPr lang="en-US" sz="1100" i="1" dirty="0">
                <a:solidFill>
                  <a:schemeClr val="accent5"/>
                </a:solidFill>
              </a:rPr>
              <a:t>Source: Pack p27</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4"/>
          </a:solidFill>
          <a:ln w="12700">
            <a:solidFill>
              <a:schemeClr val="accent4"/>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Wind, overshadowing, ADG compliance and design quality are to be tested with the State Design Review Panel.</a:t>
            </a:r>
            <a:endParaRPr lang="en-US" sz="1400" dirty="0"/>
          </a:p>
        </p:txBody>
      </p:sp>
      <p:sp>
        <p:nvSpPr>
          <p:cNvPr id="16"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7" name="Text 15"/>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B-4: Tower and podium form</a:t>
            </a:r>
            <a:endParaRPr lang="en-US" sz="1100" dirty="0"/>
          </a:p>
          <a:p>
            <a:pPr algn="ctr" indent="0" marL="0">
              <a:spcAft>
                <a:spcPts val="600"/>
              </a:spcAft>
              <a:buNone/>
            </a:pPr>
            <a:r>
              <a:rPr lang="en-US" sz="1200" dirty="0">
                <a:solidFill>
                  <a:schemeClr val="tx1"/>
                </a:solidFill>
              </a:rPr>
              <a:t>To: Furtado Sullivan</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The neighbouring holdings keep developable footprints, subject to testing</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ADJOINING-SITE DEVELOPABILITY</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Draft site study shows indicative footprints on 81-87 Cecil Ave (8,416 m²) and a 2,600 m² adjoining lot to the south-west.</a:t>
            </a:r>
            <a:endParaRPr lang="en-US" sz="1400" dirty="0"/>
          </a:p>
          <a:p>
            <a:pPr indent="0" marL="0">
              <a:spcAft>
                <a:spcPts val="200"/>
              </a:spcAft>
              <a:buNone/>
            </a:pPr>
            <a:r>
              <a:rPr lang="en-US" sz="1100" i="1" dirty="0">
                <a:solidFill>
                  <a:schemeClr val="accent5"/>
                </a:solidFill>
              </a:rPr>
              <a:t>Source: Pack p23 (marked DRAFT; site red line to be corrected, B-0)</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Existing built form is set back about 25 m (Cecil Ave) and 22 m (Hume Ave) from the site boundary.</a:t>
            </a:r>
            <a:endParaRPr lang="en-US" sz="1400" dirty="0"/>
          </a:p>
          <a:p>
            <a:pPr indent="0" marL="0">
              <a:spcAft>
                <a:spcPts val="200"/>
              </a:spcAft>
              <a:buNone/>
            </a:pPr>
            <a:r>
              <a:rPr lang="en-US" sz="1100" i="1" dirty="0">
                <a:solidFill>
                  <a:schemeClr val="accent5"/>
                </a:solidFill>
              </a:rPr>
              <a:t>Source: Pack p23</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4"/>
          </a:solidFill>
          <a:ln w="12700">
            <a:solidFill>
              <a:schemeClr val="accent4"/>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Separation, solar access and the south-west lot's own clause 4.1A position are to be demonstrated.</a:t>
            </a:r>
            <a:endParaRPr lang="en-US" sz="1400" dirty="0"/>
          </a:p>
          <a:p>
            <a:pPr indent="0" marL="0">
              <a:spcAft>
                <a:spcPts val="200"/>
              </a:spcAft>
              <a:buNone/>
            </a:pPr>
            <a:r>
              <a:rPr lang="en-US" sz="1100" i="1" dirty="0">
                <a:solidFill>
                  <a:schemeClr val="accent5"/>
                </a:solidFill>
              </a:rPr>
              <a:t>Source: Brief B-6</a:t>
            </a:r>
            <a:endParaRPr lang="en-US" sz="1400" dirty="0"/>
          </a:p>
        </p:txBody>
      </p:sp>
      <p:sp>
        <p:nvSpPr>
          <p:cNvPr id="13"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4" name="Text 12"/>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B-6: Adjoining-site developability study</a:t>
            </a:r>
            <a:endParaRPr lang="en-US" sz="1100" dirty="0"/>
          </a:p>
          <a:p>
            <a:pPr algn="ctr" indent="0" marL="0">
              <a:spcAft>
                <a:spcPts val="600"/>
              </a:spcAft>
              <a:buNone/>
            </a:pPr>
            <a:r>
              <a:rPr lang="en-US" sz="1200" dirty="0">
                <a:solidFill>
                  <a:schemeClr val="tx1"/>
                </a:solidFill>
              </a:rPr>
              <a:t>To: Furtado Sullivan / Arcadia</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No fundamental servicing constraint has been found; built-form impacts are for the EIS</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IMPACTS SUMMARY</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Power, water, sewer and telecoms connections identified; one 150 mm sewer main at the north-east corner to divert or avoid.</a:t>
            </a:r>
            <a:endParaRPr lang="en-US" sz="1400" dirty="0"/>
          </a:p>
          <a:p>
            <a:pPr indent="0" marL="0">
              <a:spcAft>
                <a:spcPts val="200"/>
              </a:spcAft>
              <a:buNone/>
            </a:pPr>
            <a:r>
              <a:rPr lang="en-US" sz="1100" i="1" dirty="0">
                <a:solidFill>
                  <a:schemeClr val="accent5"/>
                </a:solidFill>
              </a:rPr>
              <a:t>Source: Pack p13</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Heritage items nearby: Former Castle Hill Public School, St Paul's Cemetery and Wansbrough House.</a:t>
            </a:r>
            <a:endParaRPr lang="en-US" sz="1400" dirty="0"/>
          </a:p>
          <a:p>
            <a:pPr indent="0" marL="0">
              <a:spcAft>
                <a:spcPts val="200"/>
              </a:spcAft>
              <a:buNone/>
            </a:pPr>
            <a:r>
              <a:rPr lang="en-US" sz="1100" i="1" dirty="0">
                <a:solidFill>
                  <a:schemeClr val="accent5"/>
                </a:solidFill>
              </a:rPr>
              <a:t>Source: Pack p10</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79 Cecil Ave: not in the flood planning area, not bush fire prone, no contamination or landslip policy applies.</a:t>
            </a:r>
            <a:endParaRPr lang="en-US" sz="1400" dirty="0"/>
          </a:p>
          <a:p>
            <a:pPr indent="0" marL="0">
              <a:spcAft>
                <a:spcPts val="200"/>
              </a:spcAft>
              <a:buNone/>
            </a:pPr>
            <a:r>
              <a:rPr lang="en-US" sz="1100" i="1" dirty="0">
                <a:solidFill>
                  <a:schemeClr val="accent5"/>
                </a:solidFill>
              </a:rPr>
              <a:t>Source: s10.7 cert 121562, Jan 2023; current certificates for all three lots to follow</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4"/>
          </a:solidFill>
          <a:ln w="12700">
            <a:solidFill>
              <a:schemeClr val="accent4"/>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Overshadowing, wind, traffic, parking, heritage setting and views are to be assessed in the EIS.</a:t>
            </a:r>
            <a:endParaRPr lang="en-US" sz="1400" dirty="0"/>
          </a:p>
          <a:p>
            <a:pPr indent="0" marL="0">
              <a:spcAft>
                <a:spcPts val="200"/>
              </a:spcAft>
              <a:buNone/>
            </a:pPr>
            <a:r>
              <a:rPr lang="en-US" sz="1100" i="1" dirty="0">
                <a:solidFill>
                  <a:schemeClr val="accent5"/>
                </a:solidFill>
              </a:rPr>
              <a:t>Source: Brief B-7</a:t>
            </a:r>
            <a:endParaRPr lang="en-US" sz="1400" dirty="0"/>
          </a:p>
        </p:txBody>
      </p:sp>
      <p:sp>
        <p:nvSpPr>
          <p:cNvPr id="16"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7" name="Text 15"/>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B-7: Mid-winter shadow diagrams</a:t>
            </a:r>
            <a:endParaRPr lang="en-US" sz="1100" dirty="0"/>
          </a:p>
          <a:p>
            <a:pPr algn="ctr" indent="0" marL="0">
              <a:spcAft>
                <a:spcPts val="600"/>
              </a:spcAft>
              <a:buNone/>
            </a:pPr>
            <a:r>
              <a:rPr lang="en-US" sz="1200" dirty="0">
                <a:solidFill>
                  <a:schemeClr val="tx1"/>
                </a:solidFill>
              </a:rPr>
              <a:t>To: Furtado Sullivan</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243 homes across six apartment types, with 3% held as affordable housing in perpetuity</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HOUSING AND AFFORDABLE HOUSING</a:t>
            </a:r>
            <a:endParaRPr lang="en-US" sz="1000" dirty="0"/>
          </a:p>
        </p:txBody>
      </p:sp>
      <p:sp>
        <p:nvSpPr>
          <p:cNvPr id="4" name="stat-0"/>
          <p:cNvSpPr/>
          <p:nvPr/>
        </p:nvSpPr>
        <p:spPr>
          <a:xfrm>
            <a:off x="457200" y="1554480"/>
            <a:ext cx="1600200" cy="1234440"/>
          </a:xfrm>
          <a:prstGeom prst="roundRect">
            <a:avLst>
              <a:gd name="adj" fmla="val 7407"/>
            </a:avLst>
          </a:prstGeom>
          <a:solidFill>
            <a:schemeClr val="bg2"/>
          </a:solidFill>
          <a:ln w="12700">
            <a:solidFill>
              <a:schemeClr val="bg2"/>
            </a:solidFill>
            <a:prstDash val="solid"/>
          </a:ln>
        </p:spPr>
      </p:sp>
      <p:sp>
        <p:nvSpPr>
          <p:cNvPr id="5" name="Text 3"/>
          <p:cNvSpPr txBox="1"/>
          <p:nvPr/>
        </p:nvSpPr>
        <p:spPr>
          <a:xfrm>
            <a:off x="457200" y="1600200"/>
            <a:ext cx="16002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17%</a:t>
            </a:r>
            <a:endParaRPr lang="en-US" sz="3000" dirty="0"/>
          </a:p>
        </p:txBody>
      </p:sp>
      <p:sp>
        <p:nvSpPr>
          <p:cNvPr id="6" name="Text 4"/>
          <p:cNvSpPr txBox="1"/>
          <p:nvPr/>
        </p:nvSpPr>
        <p:spPr>
          <a:xfrm>
            <a:off x="548640" y="2286000"/>
            <a:ext cx="1417320" cy="457200"/>
          </a:xfrm>
          <a:prstGeom prst="rect">
            <a:avLst/>
          </a:prstGeom>
          <a:noFill/>
          <a:ln/>
        </p:spPr>
        <p:txBody>
          <a:bodyPr wrap="square" lIns="0" tIns="0" rIns="0" bIns="0" rtlCol="0" anchor="ctr"/>
          <a:lstStyle/>
          <a:p>
            <a:pPr algn="ctr" indent="0" marL="0">
              <a:buNone/>
            </a:pPr>
            <a:r>
              <a:rPr lang="en-US" sz="1200" dirty="0">
                <a:solidFill>
                  <a:schemeClr val="tx1"/>
                </a:solidFill>
              </a:rPr>
              <a:t>one-bed (42)</a:t>
            </a:r>
            <a:endParaRPr lang="en-US" sz="1200" dirty="0"/>
          </a:p>
        </p:txBody>
      </p:sp>
      <p:sp>
        <p:nvSpPr>
          <p:cNvPr id="7" name="stat-1"/>
          <p:cNvSpPr/>
          <p:nvPr/>
        </p:nvSpPr>
        <p:spPr>
          <a:xfrm>
            <a:off x="2209800" y="1554480"/>
            <a:ext cx="1600200" cy="1234440"/>
          </a:xfrm>
          <a:prstGeom prst="roundRect">
            <a:avLst>
              <a:gd name="adj" fmla="val 7407"/>
            </a:avLst>
          </a:prstGeom>
          <a:solidFill>
            <a:schemeClr val="bg2"/>
          </a:solidFill>
          <a:ln w="12700">
            <a:solidFill>
              <a:schemeClr val="bg2"/>
            </a:solidFill>
            <a:prstDash val="solid"/>
          </a:ln>
        </p:spPr>
      </p:sp>
      <p:sp>
        <p:nvSpPr>
          <p:cNvPr id="8" name="Text 6"/>
          <p:cNvSpPr txBox="1"/>
          <p:nvPr/>
        </p:nvSpPr>
        <p:spPr>
          <a:xfrm>
            <a:off x="2209800" y="1600200"/>
            <a:ext cx="16002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47%</a:t>
            </a:r>
            <a:endParaRPr lang="en-US" sz="3000" dirty="0"/>
          </a:p>
        </p:txBody>
      </p:sp>
      <p:sp>
        <p:nvSpPr>
          <p:cNvPr id="9" name="Text 7"/>
          <p:cNvSpPr txBox="1"/>
          <p:nvPr/>
        </p:nvSpPr>
        <p:spPr>
          <a:xfrm>
            <a:off x="2301240" y="2286000"/>
            <a:ext cx="1417320" cy="457200"/>
          </a:xfrm>
          <a:prstGeom prst="rect">
            <a:avLst/>
          </a:prstGeom>
          <a:noFill/>
          <a:ln/>
        </p:spPr>
        <p:txBody>
          <a:bodyPr wrap="square" lIns="0" tIns="0" rIns="0" bIns="0" rtlCol="0" anchor="ctr"/>
          <a:lstStyle/>
          <a:p>
            <a:pPr algn="ctr" indent="0" marL="0">
              <a:buNone/>
            </a:pPr>
            <a:r>
              <a:rPr lang="en-US" sz="1200" dirty="0">
                <a:solidFill>
                  <a:schemeClr val="tx1"/>
                </a:solidFill>
              </a:rPr>
              <a:t>two-bed (114)</a:t>
            </a:r>
            <a:endParaRPr lang="en-US" sz="1200" dirty="0"/>
          </a:p>
        </p:txBody>
      </p:sp>
      <p:sp>
        <p:nvSpPr>
          <p:cNvPr id="10" name="stat-2"/>
          <p:cNvSpPr/>
          <p:nvPr/>
        </p:nvSpPr>
        <p:spPr>
          <a:xfrm>
            <a:off x="3962400" y="1554480"/>
            <a:ext cx="1600200" cy="1234440"/>
          </a:xfrm>
          <a:prstGeom prst="roundRect">
            <a:avLst>
              <a:gd name="adj" fmla="val 7407"/>
            </a:avLst>
          </a:prstGeom>
          <a:solidFill>
            <a:schemeClr val="bg2"/>
          </a:solidFill>
          <a:ln w="12700">
            <a:solidFill>
              <a:schemeClr val="bg2"/>
            </a:solidFill>
            <a:prstDash val="solid"/>
          </a:ln>
        </p:spPr>
      </p:sp>
      <p:sp>
        <p:nvSpPr>
          <p:cNvPr id="11" name="Text 9"/>
          <p:cNvSpPr txBox="1"/>
          <p:nvPr/>
        </p:nvSpPr>
        <p:spPr>
          <a:xfrm>
            <a:off x="3962400" y="1600200"/>
            <a:ext cx="16002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26%</a:t>
            </a:r>
            <a:endParaRPr lang="en-US" sz="3000" dirty="0"/>
          </a:p>
        </p:txBody>
      </p:sp>
      <p:sp>
        <p:nvSpPr>
          <p:cNvPr id="12" name="Text 10"/>
          <p:cNvSpPr txBox="1"/>
          <p:nvPr/>
        </p:nvSpPr>
        <p:spPr>
          <a:xfrm>
            <a:off x="4053840" y="2286000"/>
            <a:ext cx="1417320" cy="457200"/>
          </a:xfrm>
          <a:prstGeom prst="rect">
            <a:avLst/>
          </a:prstGeom>
          <a:noFill/>
          <a:ln/>
        </p:spPr>
        <p:txBody>
          <a:bodyPr wrap="square" lIns="0" tIns="0" rIns="0" bIns="0" rtlCol="0" anchor="ctr"/>
          <a:lstStyle/>
          <a:p>
            <a:pPr algn="ctr" indent="0" marL="0">
              <a:buNone/>
            </a:pPr>
            <a:r>
              <a:rPr lang="en-US" sz="1200" dirty="0">
                <a:solidFill>
                  <a:schemeClr val="tx1"/>
                </a:solidFill>
              </a:rPr>
              <a:t>three-bed (63)</a:t>
            </a:r>
            <a:endParaRPr lang="en-US" sz="1200" dirty="0"/>
          </a:p>
        </p:txBody>
      </p:sp>
      <p:sp>
        <p:nvSpPr>
          <p:cNvPr id="13" name="stat-3"/>
          <p:cNvSpPr/>
          <p:nvPr/>
        </p:nvSpPr>
        <p:spPr>
          <a:xfrm>
            <a:off x="5715000" y="1554480"/>
            <a:ext cx="1600200" cy="1234440"/>
          </a:xfrm>
          <a:prstGeom prst="roundRect">
            <a:avLst>
              <a:gd name="adj" fmla="val 7407"/>
            </a:avLst>
          </a:prstGeom>
          <a:solidFill>
            <a:schemeClr val="bg2"/>
          </a:solidFill>
          <a:ln w="12700">
            <a:solidFill>
              <a:schemeClr val="bg2"/>
            </a:solidFill>
            <a:prstDash val="solid"/>
          </a:ln>
        </p:spPr>
      </p:sp>
      <p:sp>
        <p:nvSpPr>
          <p:cNvPr id="14" name="Text 12"/>
          <p:cNvSpPr txBox="1"/>
          <p:nvPr/>
        </p:nvSpPr>
        <p:spPr>
          <a:xfrm>
            <a:off x="5715000" y="1600200"/>
            <a:ext cx="16002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10%</a:t>
            </a:r>
            <a:endParaRPr lang="en-US" sz="3000" dirty="0"/>
          </a:p>
        </p:txBody>
      </p:sp>
      <p:sp>
        <p:nvSpPr>
          <p:cNvPr id="15" name="Text 13"/>
          <p:cNvSpPr txBox="1"/>
          <p:nvPr/>
        </p:nvSpPr>
        <p:spPr>
          <a:xfrm>
            <a:off x="5806440" y="2286000"/>
            <a:ext cx="1417320" cy="457200"/>
          </a:xfrm>
          <a:prstGeom prst="rect">
            <a:avLst/>
          </a:prstGeom>
          <a:noFill/>
          <a:ln/>
        </p:spPr>
        <p:txBody>
          <a:bodyPr wrap="square" lIns="0" tIns="0" rIns="0" bIns="0" rtlCol="0" anchor="ctr"/>
          <a:lstStyle/>
          <a:p>
            <a:pPr algn="ctr" indent="0" marL="0">
              <a:buNone/>
            </a:pPr>
            <a:r>
              <a:rPr lang="en-US" sz="1200" dirty="0">
                <a:solidFill>
                  <a:schemeClr val="tx1"/>
                </a:solidFill>
              </a:rPr>
              <a:t>four-bed (24)</a:t>
            </a:r>
            <a:endParaRPr lang="en-US" sz="1200" dirty="0"/>
          </a:p>
        </p:txBody>
      </p:sp>
      <p:sp>
        <p:nvSpPr>
          <p:cNvPr id="16" name="tag-0"/>
          <p:cNvSpPr/>
          <p:nvPr/>
        </p:nvSpPr>
        <p:spPr>
          <a:xfrm>
            <a:off x="457200" y="3099816"/>
            <a:ext cx="1874520" cy="475488"/>
          </a:xfrm>
          <a:prstGeom prst="roundRect">
            <a:avLst>
              <a:gd name="adj" fmla="val 15385"/>
            </a:avLst>
          </a:prstGeom>
          <a:solidFill>
            <a:schemeClr val="accent2"/>
          </a:solidFill>
          <a:ln w="12700">
            <a:solidFill>
              <a:schemeClr val="accent2"/>
            </a:solidFill>
            <a:prstDash val="solid"/>
          </a:ln>
        </p:spPr>
      </p:sp>
      <p:sp>
        <p:nvSpPr>
          <p:cNvPr id="17" name="Text 15"/>
          <p:cNvSpPr txBox="1"/>
          <p:nvPr/>
        </p:nvSpPr>
        <p:spPr>
          <a:xfrm>
            <a:off x="457200" y="30998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8" name="item-0"/>
          <p:cNvSpPr txBox="1"/>
          <p:nvPr/>
        </p:nvSpPr>
        <p:spPr>
          <a:xfrm>
            <a:off x="2514600" y="3063240"/>
            <a:ext cx="4800600"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Mix: 42 one-bed, 60 two-bed, 54 two-bed + study, 36 three-bed, 27 three-bed + study, 24 four-bed + study.</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19" name="tag-1"/>
          <p:cNvSpPr/>
          <p:nvPr/>
        </p:nvSpPr>
        <p:spPr>
          <a:xfrm>
            <a:off x="457200" y="4197096"/>
            <a:ext cx="1874520" cy="475488"/>
          </a:xfrm>
          <a:prstGeom prst="roundRect">
            <a:avLst>
              <a:gd name="adj" fmla="val 15385"/>
            </a:avLst>
          </a:prstGeom>
          <a:solidFill>
            <a:schemeClr val="accent3"/>
          </a:solidFill>
          <a:ln w="12700">
            <a:solidFill>
              <a:schemeClr val="accent3"/>
            </a:solidFill>
            <a:prstDash val="solid"/>
          </a:ln>
        </p:spPr>
      </p:sp>
      <p:sp>
        <p:nvSpPr>
          <p:cNvPr id="20" name="Text 18"/>
          <p:cNvSpPr txBox="1"/>
          <p:nvPr/>
        </p:nvSpPr>
        <p:spPr>
          <a:xfrm>
            <a:off x="457200" y="419709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21" name="item-1"/>
          <p:cNvSpPr txBox="1"/>
          <p:nvPr/>
        </p:nvSpPr>
        <p:spPr>
          <a:xfrm>
            <a:off x="2514600" y="4160520"/>
            <a:ext cx="4800600"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3% as affordable rental in perpetuity, secured in the LEP amendment: about 7 homes whether measured on GFA (about 866 m²) or on dwellings.</a:t>
            </a:r>
            <a:endParaRPr lang="en-US" sz="1400" dirty="0"/>
          </a:p>
          <a:p>
            <a:pPr indent="0" marL="0">
              <a:spcAft>
                <a:spcPts val="200"/>
              </a:spcAft>
              <a:buNone/>
            </a:pPr>
            <a:r>
              <a:rPr lang="en-US" sz="1100" i="1" dirty="0">
                <a:solidFill>
                  <a:schemeClr val="accent5"/>
                </a:solidFill>
              </a:rPr>
              <a:t>Source: Locked position; basis not yet decided (B-8)</a:t>
            </a:r>
            <a:endParaRPr lang="en-US" sz="1400" dirty="0"/>
          </a:p>
        </p:txBody>
      </p:sp>
      <p:sp>
        <p:nvSpPr>
          <p:cNvPr id="22" name="tag-2"/>
          <p:cNvSpPr/>
          <p:nvPr/>
        </p:nvSpPr>
        <p:spPr>
          <a:xfrm>
            <a:off x="457200" y="5294376"/>
            <a:ext cx="1874520" cy="475488"/>
          </a:xfrm>
          <a:prstGeom prst="roundRect">
            <a:avLst>
              <a:gd name="adj" fmla="val 15385"/>
            </a:avLst>
          </a:prstGeom>
          <a:solidFill>
            <a:schemeClr val="accent4"/>
          </a:solidFill>
          <a:ln w="12700">
            <a:solidFill>
              <a:schemeClr val="accent4"/>
            </a:solidFill>
            <a:prstDash val="solid"/>
          </a:ln>
        </p:spPr>
      </p:sp>
      <p:sp>
        <p:nvSpPr>
          <p:cNvPr id="23" name="Text 21"/>
          <p:cNvSpPr txBox="1"/>
          <p:nvPr/>
        </p:nvSpPr>
        <p:spPr>
          <a:xfrm>
            <a:off x="457200" y="52943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24" name="item-2"/>
          <p:cNvSpPr txBox="1"/>
          <p:nvPr/>
        </p:nvSpPr>
        <p:spPr>
          <a:xfrm>
            <a:off x="2514600" y="5257800"/>
            <a:ext cx="4800600"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Basis (GFA or dwellings), community housing provider, dwelling schedule and distribution are to be confirmed.</a:t>
            </a:r>
            <a:endParaRPr lang="en-US" sz="1400" dirty="0"/>
          </a:p>
          <a:p>
            <a:pPr indent="0" marL="0">
              <a:spcAft>
                <a:spcPts val="200"/>
              </a:spcAft>
              <a:buNone/>
            </a:pPr>
            <a:r>
              <a:rPr lang="en-US" sz="1100" i="1" dirty="0">
                <a:solidFill>
                  <a:schemeClr val="accent5"/>
                </a:solidFill>
              </a:rPr>
              <a:t>Source: Owner decision pending</a:t>
            </a:r>
            <a:endParaRPr lang="en-US" sz="1400" dirty="0"/>
          </a:p>
        </p:txBody>
      </p:sp>
      <p:sp>
        <p:nvSpPr>
          <p:cNvPr id="25" name="drawing-placeholder"/>
          <p:cNvSpPr/>
          <p:nvPr/>
        </p:nvSpPr>
        <p:spPr>
          <a:xfrm>
            <a:off x="7635240" y="1554480"/>
            <a:ext cx="4096512" cy="4572000"/>
          </a:xfrm>
          <a:prstGeom prst="rect">
            <a:avLst/>
          </a:prstGeom>
          <a:solidFill>
            <a:schemeClr val="bg2"/>
          </a:solidFill>
          <a:ln w="15875">
            <a:solidFill>
              <a:schemeClr val="accent5"/>
            </a:solidFill>
            <a:prstDash val="dash"/>
          </a:ln>
        </p:spPr>
      </p:sp>
      <p:sp>
        <p:nvSpPr>
          <p:cNvPr id="26" name="Text 24"/>
          <p:cNvSpPr txBox="1"/>
          <p:nvPr/>
        </p:nvSpPr>
        <p:spPr>
          <a:xfrm>
            <a:off x="7863840" y="1783080"/>
            <a:ext cx="3639312" cy="411480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B-8: Affordable housing schedule and distribution</a:t>
            </a:r>
            <a:endParaRPr lang="en-US" sz="1100" dirty="0"/>
          </a:p>
          <a:p>
            <a:pPr algn="ctr" indent="0" marL="0">
              <a:spcAft>
                <a:spcPts val="600"/>
              </a:spcAft>
              <a:buNone/>
            </a:pPr>
            <a:r>
              <a:rPr lang="en-US" sz="1200" dirty="0">
                <a:solidFill>
                  <a:schemeClr val="tx1"/>
                </a:solidFill>
              </a:rPr>
              <a:t>To: Furtado Sullivan</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SSD lodgement by October 2027, within 9 months of SEARs; construction by October 2029</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DELIVERABILITY AND PROGRAMME</a:t>
            </a:r>
            <a:endParaRPr lang="en-US" sz="1000" dirty="0"/>
          </a:p>
        </p:txBody>
      </p:sp>
      <p:sp>
        <p:nvSpPr>
          <p:cNvPr id="4" name="timeline-line"/>
          <p:cNvSpPr/>
          <p:nvPr/>
        </p:nvSpPr>
        <p:spPr>
          <a:xfrm>
            <a:off x="822960" y="2057400"/>
            <a:ext cx="10515600" cy="0"/>
          </a:xfrm>
          <a:prstGeom prst="line">
            <a:avLst/>
          </a:prstGeom>
          <a:noFill/>
          <a:ln w="25400">
            <a:solidFill>
              <a:schemeClr val="accent5"/>
            </a:solidFill>
            <a:prstDash val="solid"/>
          </a:ln>
        </p:spPr>
      </p:sp>
      <p:sp>
        <p:nvSpPr>
          <p:cNvPr id="5" name="step-0"/>
          <p:cNvSpPr/>
          <p:nvPr/>
        </p:nvSpPr>
        <p:spPr>
          <a:xfrm>
            <a:off x="640080" y="1874520"/>
            <a:ext cx="365760" cy="365760"/>
          </a:xfrm>
          <a:prstGeom prst="ellipse">
            <a:avLst/>
          </a:prstGeom>
          <a:solidFill>
            <a:schemeClr val="tx2"/>
          </a:solidFill>
          <a:ln w="25400">
            <a:solidFill>
              <a:schemeClr val="bg1"/>
            </a:solidFill>
            <a:prstDash val="solid"/>
          </a:ln>
        </p:spPr>
      </p:sp>
      <p:sp>
        <p:nvSpPr>
          <p:cNvPr id="6" name="Text 4"/>
          <p:cNvSpPr txBox="1"/>
          <p:nvPr/>
        </p:nvSpPr>
        <p:spPr>
          <a:xfrm>
            <a:off x="-18288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Oct 2026</a:t>
            </a:r>
            <a:endParaRPr lang="en-US" sz="1400" dirty="0"/>
          </a:p>
          <a:p>
            <a:pPr algn="ctr" indent="0" marL="0">
              <a:buNone/>
            </a:pPr>
            <a:r>
              <a:rPr lang="en-US" sz="1200" dirty="0">
                <a:solidFill>
                  <a:schemeClr val="tx1"/>
                </a:solidFill>
              </a:rPr>
              <a:t>EOI</a:t>
            </a:r>
            <a:endParaRPr lang="en-US" sz="1400" dirty="0"/>
          </a:p>
        </p:txBody>
      </p:sp>
      <p:sp>
        <p:nvSpPr>
          <p:cNvPr id="7" name="step-1"/>
          <p:cNvSpPr/>
          <p:nvPr/>
        </p:nvSpPr>
        <p:spPr>
          <a:xfrm>
            <a:off x="3268980" y="1874520"/>
            <a:ext cx="365760" cy="365760"/>
          </a:xfrm>
          <a:prstGeom prst="ellipse">
            <a:avLst/>
          </a:prstGeom>
          <a:solidFill>
            <a:schemeClr val="tx2"/>
          </a:solidFill>
          <a:ln w="25400">
            <a:solidFill>
              <a:schemeClr val="bg1"/>
            </a:solidFill>
            <a:prstDash val="solid"/>
          </a:ln>
        </p:spPr>
      </p:sp>
      <p:sp>
        <p:nvSpPr>
          <p:cNvPr id="8" name="Text 6"/>
          <p:cNvSpPr txBox="1"/>
          <p:nvPr/>
        </p:nvSpPr>
        <p:spPr>
          <a:xfrm>
            <a:off x="244602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22 Jan 2027</a:t>
            </a:r>
            <a:endParaRPr lang="en-US" sz="1400" dirty="0"/>
          </a:p>
          <a:p>
            <a:pPr algn="ctr" indent="0" marL="0">
              <a:buNone/>
            </a:pPr>
            <a:r>
              <a:rPr lang="en-US" sz="1200" dirty="0">
                <a:solidFill>
                  <a:schemeClr val="tx1"/>
                </a:solidFill>
              </a:rPr>
              <a:t>SEARs</a:t>
            </a:r>
            <a:endParaRPr lang="en-US" sz="1400" dirty="0"/>
          </a:p>
        </p:txBody>
      </p:sp>
      <p:sp>
        <p:nvSpPr>
          <p:cNvPr id="9" name="step-2"/>
          <p:cNvSpPr/>
          <p:nvPr/>
        </p:nvSpPr>
        <p:spPr>
          <a:xfrm>
            <a:off x="5897880" y="1874520"/>
            <a:ext cx="365760" cy="365760"/>
          </a:xfrm>
          <a:prstGeom prst="ellipse">
            <a:avLst/>
          </a:prstGeom>
          <a:solidFill>
            <a:schemeClr val="tx2"/>
          </a:solidFill>
          <a:ln w="25400">
            <a:solidFill>
              <a:schemeClr val="bg1"/>
            </a:solidFill>
            <a:prstDash val="solid"/>
          </a:ln>
        </p:spPr>
      </p:sp>
      <p:sp>
        <p:nvSpPr>
          <p:cNvPr id="10" name="Text 8"/>
          <p:cNvSpPr txBox="1"/>
          <p:nvPr/>
        </p:nvSpPr>
        <p:spPr>
          <a:xfrm>
            <a:off x="507492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1 Oct 2027</a:t>
            </a:r>
            <a:endParaRPr lang="en-US" sz="1400" dirty="0"/>
          </a:p>
          <a:p>
            <a:pPr algn="ctr" indent="0" marL="0">
              <a:buNone/>
            </a:pPr>
            <a:r>
              <a:rPr lang="en-US" sz="1200" dirty="0">
                <a:solidFill>
                  <a:schemeClr val="tx1"/>
                </a:solidFill>
              </a:rPr>
              <a:t>SSDA lodged</a:t>
            </a:r>
            <a:endParaRPr lang="en-US" sz="1400" dirty="0"/>
          </a:p>
        </p:txBody>
      </p:sp>
      <p:sp>
        <p:nvSpPr>
          <p:cNvPr id="11" name="step-3"/>
          <p:cNvSpPr/>
          <p:nvPr/>
        </p:nvSpPr>
        <p:spPr>
          <a:xfrm>
            <a:off x="8526780" y="1874520"/>
            <a:ext cx="365760" cy="365760"/>
          </a:xfrm>
          <a:prstGeom prst="ellipse">
            <a:avLst/>
          </a:prstGeom>
          <a:solidFill>
            <a:schemeClr val="tx2"/>
          </a:solidFill>
          <a:ln w="25400">
            <a:solidFill>
              <a:schemeClr val="bg1"/>
            </a:solidFill>
            <a:prstDash val="solid"/>
          </a:ln>
        </p:spPr>
      </p:sp>
      <p:sp>
        <p:nvSpPr>
          <p:cNvPr id="12" name="Text 10"/>
          <p:cNvSpPr txBox="1"/>
          <p:nvPr/>
        </p:nvSpPr>
        <p:spPr>
          <a:xfrm>
            <a:off x="770382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10 Oct 2028</a:t>
            </a:r>
            <a:endParaRPr lang="en-US" sz="1400" dirty="0"/>
          </a:p>
          <a:p>
            <a:pPr algn="ctr" indent="0" marL="0">
              <a:buNone/>
            </a:pPr>
            <a:r>
              <a:rPr lang="en-US" sz="1200" dirty="0">
                <a:solidFill>
                  <a:schemeClr val="tx1"/>
                </a:solidFill>
              </a:rPr>
              <a:t>Approval (programme)</a:t>
            </a:r>
            <a:endParaRPr lang="en-US" sz="1400" dirty="0"/>
          </a:p>
        </p:txBody>
      </p:sp>
      <p:sp>
        <p:nvSpPr>
          <p:cNvPr id="13" name="step-4"/>
          <p:cNvSpPr/>
          <p:nvPr/>
        </p:nvSpPr>
        <p:spPr>
          <a:xfrm>
            <a:off x="11155680" y="1874520"/>
            <a:ext cx="365760" cy="365760"/>
          </a:xfrm>
          <a:prstGeom prst="ellipse">
            <a:avLst/>
          </a:prstGeom>
          <a:solidFill>
            <a:schemeClr val="accent1"/>
          </a:solidFill>
          <a:ln w="25400">
            <a:solidFill>
              <a:schemeClr val="bg1"/>
            </a:solidFill>
            <a:prstDash val="solid"/>
          </a:ln>
        </p:spPr>
      </p:sp>
      <p:sp>
        <p:nvSpPr>
          <p:cNvPr id="14" name="Text 12"/>
          <p:cNvSpPr txBox="1"/>
          <p:nvPr/>
        </p:nvSpPr>
        <p:spPr>
          <a:xfrm>
            <a:off x="1033272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by 10 Oct 2029</a:t>
            </a:r>
            <a:endParaRPr lang="en-US" sz="1400" dirty="0"/>
          </a:p>
          <a:p>
            <a:pPr algn="ctr" indent="0" marL="0">
              <a:buNone/>
            </a:pPr>
            <a:r>
              <a:rPr lang="en-US" sz="1200" dirty="0">
                <a:solidFill>
                  <a:schemeClr val="tx1"/>
                </a:solidFill>
              </a:rPr>
              <a:t>Construction start</a:t>
            </a:r>
            <a:endParaRPr lang="en-US" sz="1400" dirty="0"/>
          </a:p>
        </p:txBody>
      </p:sp>
      <p:sp>
        <p:nvSpPr>
          <p:cNvPr id="15" name="tag-0"/>
          <p:cNvSpPr/>
          <p:nvPr/>
        </p:nvSpPr>
        <p:spPr>
          <a:xfrm>
            <a:off x="457200" y="3557016"/>
            <a:ext cx="1874520" cy="475488"/>
          </a:xfrm>
          <a:prstGeom prst="roundRect">
            <a:avLst>
              <a:gd name="adj" fmla="val 15385"/>
            </a:avLst>
          </a:prstGeom>
          <a:solidFill>
            <a:schemeClr val="accent2"/>
          </a:solidFill>
          <a:ln w="12700">
            <a:solidFill>
              <a:schemeClr val="accent2"/>
            </a:solidFill>
            <a:prstDash val="solid"/>
          </a:ln>
        </p:spPr>
      </p:sp>
      <p:sp>
        <p:nvSpPr>
          <p:cNvPr id="16" name="Text 14"/>
          <p:cNvSpPr txBox="1"/>
          <p:nvPr/>
        </p:nvSpPr>
        <p:spPr>
          <a:xfrm>
            <a:off x="457200" y="35570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7" name="item-0"/>
          <p:cNvSpPr txBox="1"/>
          <p:nvPr/>
        </p:nvSpPr>
        <p:spPr>
          <a:xfrm>
            <a:off x="2514600" y="3520440"/>
            <a:ext cx="9217152" cy="8229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Scoping and EIS preparation are programmed from 2 November 2026.</a:t>
            </a:r>
            <a:endParaRPr lang="en-US" sz="1400" dirty="0"/>
          </a:p>
          <a:p>
            <a:pPr indent="0" marL="0">
              <a:spcAft>
                <a:spcPts val="200"/>
              </a:spcAft>
              <a:buNone/>
            </a:pPr>
            <a:r>
              <a:rPr lang="en-US" sz="1100" i="1" dirty="0">
                <a:solidFill>
                  <a:schemeClr val="accent5"/>
                </a:solidFill>
              </a:rPr>
              <a:t>Source: Pack p26</a:t>
            </a:r>
            <a:endParaRPr lang="en-US" sz="1400" dirty="0"/>
          </a:p>
        </p:txBody>
      </p:sp>
      <p:sp>
        <p:nvSpPr>
          <p:cNvPr id="18" name="tag-1"/>
          <p:cNvSpPr/>
          <p:nvPr/>
        </p:nvSpPr>
        <p:spPr>
          <a:xfrm>
            <a:off x="457200" y="4471416"/>
            <a:ext cx="1874520" cy="475488"/>
          </a:xfrm>
          <a:prstGeom prst="roundRect">
            <a:avLst>
              <a:gd name="adj" fmla="val 15385"/>
            </a:avLst>
          </a:prstGeom>
          <a:solidFill>
            <a:schemeClr val="accent2"/>
          </a:solidFill>
          <a:ln w="12700">
            <a:solidFill>
              <a:schemeClr val="accent2"/>
            </a:solidFill>
            <a:prstDash val="solid"/>
          </a:ln>
        </p:spPr>
      </p:sp>
      <p:sp>
        <p:nvSpPr>
          <p:cNvPr id="19" name="Text 17"/>
          <p:cNvSpPr txBox="1"/>
          <p:nvPr/>
        </p:nvSpPr>
        <p:spPr>
          <a:xfrm>
            <a:off x="457200" y="44714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20" name="item-1"/>
          <p:cNvSpPr txBox="1"/>
          <p:nvPr/>
        </p:nvSpPr>
        <p:spPr>
          <a:xfrm>
            <a:off x="2514600" y="4434840"/>
            <a:ext cx="9217152" cy="8229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Consolidated site; demolition is the only enabling work; no off-site infrastructure is needed first.</a:t>
            </a:r>
            <a:endParaRPr lang="en-US" sz="1400" dirty="0"/>
          </a:p>
          <a:p>
            <a:pPr indent="0" marL="0">
              <a:spcAft>
                <a:spcPts val="200"/>
              </a:spcAft>
              <a:buNone/>
            </a:pPr>
            <a:r>
              <a:rPr lang="en-US" sz="1100" i="1" dirty="0">
                <a:solidFill>
                  <a:schemeClr val="accent5"/>
                </a:solidFill>
              </a:rPr>
              <a:t>Source: Pack p3, p13</a:t>
            </a:r>
            <a:endParaRPr lang="en-US" sz="1400" dirty="0"/>
          </a:p>
        </p:txBody>
      </p:sp>
      <p:sp>
        <p:nvSpPr>
          <p:cNvPr id="21" name="tag-2"/>
          <p:cNvSpPr/>
          <p:nvPr/>
        </p:nvSpPr>
        <p:spPr>
          <a:xfrm>
            <a:off x="457200" y="5385816"/>
            <a:ext cx="1874520" cy="475488"/>
          </a:xfrm>
          <a:prstGeom prst="roundRect">
            <a:avLst>
              <a:gd name="adj" fmla="val 15385"/>
            </a:avLst>
          </a:prstGeom>
          <a:solidFill>
            <a:schemeClr val="accent4"/>
          </a:solidFill>
          <a:ln w="12700">
            <a:solidFill>
              <a:schemeClr val="accent4"/>
            </a:solidFill>
            <a:prstDash val="solid"/>
          </a:ln>
        </p:spPr>
      </p:sp>
      <p:sp>
        <p:nvSpPr>
          <p:cNvPr id="22" name="Text 20"/>
          <p:cNvSpPr txBox="1"/>
          <p:nvPr/>
        </p:nvSpPr>
        <p:spPr>
          <a:xfrm>
            <a:off x="457200" y="53858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23" name="item-2"/>
          <p:cNvSpPr txBox="1"/>
          <p:nvPr/>
        </p:nvSpPr>
        <p:spPr>
          <a:xfrm>
            <a:off x="2514600" y="5349240"/>
            <a:ext cx="9217152" cy="8229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Target start date, builder and funding statement to be confirmed.</a:t>
            </a:r>
            <a:endParaRPr lang="en-US" sz="1400" dirty="0"/>
          </a:p>
          <a:p>
            <a:pPr indent="0" marL="0">
              <a:spcAft>
                <a:spcPts val="200"/>
              </a:spcAft>
              <a:buNone/>
            </a:pPr>
            <a:r>
              <a:rPr lang="en-US" sz="1100" i="1" dirty="0">
                <a:solidFill>
                  <a:schemeClr val="accent5"/>
                </a:solidFill>
              </a:rPr>
              <a:t>Source: Owner decision pending</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No other State pathway delivers this housing: the in-fill bonus yields fewer than 50 homes</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WHY THIS PATHWAY</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In-fill bonus on the Low and Mid-Rise standard: 22.75 m and 1.95:1, about 34 homes; at most 28.6 m and 2.86:1, about 49 homes. Both are under the 100-home State significance threshold.</a:t>
            </a:r>
            <a:endParaRPr lang="en-US" sz="1400" dirty="0"/>
          </a:p>
          <a:p>
            <a:pPr indent="0" marL="0">
              <a:spcAft>
                <a:spcPts val="200"/>
              </a:spcAft>
              <a:buNone/>
            </a:pPr>
            <a:r>
              <a:rPr lang="en-US" sz="1100" i="1" dirty="0">
                <a:solidFill>
                  <a:schemeClr val="accent5"/>
                </a:solidFill>
              </a:rPr>
              <a:t>Source: Research log section l; planner to confirm</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Clause 4.1A requires 4,000 m² for a residential flat building; the site is 2,048 m².</a:t>
            </a:r>
            <a:endParaRPr lang="en-US" sz="1400" dirty="0"/>
          </a:p>
          <a:p>
            <a:pPr indent="0" marL="0">
              <a:spcAft>
                <a:spcPts val="200"/>
              </a:spcAft>
              <a:buNone/>
            </a:pPr>
            <a:r>
              <a:rPr lang="en-US" sz="1100" i="1" dirty="0">
                <a:solidFill>
                  <a:schemeClr val="accent5"/>
                </a:solidFill>
              </a:rPr>
              <a:t>Source: Locked position</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3"/>
          </a:solidFill>
          <a:ln w="12700">
            <a:solidFill>
              <a:schemeClr val="accent3"/>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HDA pathway lets DPHI, council, agencies and the community assess the controls, design and public benefit together.</a:t>
            </a:r>
            <a:endParaRPr lang="en-US" sz="1400" dirty="0"/>
          </a:p>
          <a:p>
            <a:pPr indent="0" marL="0">
              <a:spcAft>
                <a:spcPts val="200"/>
              </a:spcAft>
              <a:buNone/>
            </a:pPr>
            <a:r>
              <a:rPr lang="en-US" sz="1100" i="1" dirty="0">
                <a:solidFill>
                  <a:schemeClr val="accent5"/>
                </a:solidFill>
              </a:rPr>
              <a:t>Source: Pack p6</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4"/>
          </a:solidFill>
          <a:ln w="12700">
            <a:solidFill>
              <a:schemeClr val="accent4"/>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right height for this site is a matter for merit assessment; a lower outcome than proposed is accepted as possible.</a:t>
            </a:r>
            <a:endParaRPr lang="en-US" sz="1400" dirty="0"/>
          </a:p>
          <a:p>
            <a:pPr indent="0" marL="0">
              <a:spcAft>
                <a:spcPts val="200"/>
              </a:spcAft>
              <a:buNone/>
            </a:pPr>
            <a:r>
              <a:rPr lang="en-US" sz="1100" i="1" dirty="0">
                <a:solidFill>
                  <a:schemeClr val="accent5"/>
                </a:solidFill>
              </a:rPr>
              <a:t>Source: Owner to approve</a:t>
            </a:r>
            <a:endParaRPr lang="en-US" sz="1400" dirty="0"/>
          </a:p>
        </p:txBody>
      </p:sp>
      <p:graphicFrame>
        <p:nvGraphicFramePr>
          <p:cNvPr id="16" name="height-chart" descr=""/>
          <p:cNvGraphicFramePr/>
          <p:nvPr/>
        </p:nvGraphicFramePr>
        <p:xfrm>
          <a:off x="7635240" y="1600200"/>
          <a:ext cx="4096512" cy="4526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31520"/>
            <a:ext cx="5486400" cy="457200"/>
          </a:xfrm>
          <a:prstGeom prst="rect">
            <a:avLst/>
          </a:prstGeom>
          <a:noFill/>
          <a:ln/>
        </p:spPr>
        <p:txBody>
          <a:bodyPr wrap="square" lIns="0" tIns="0" rIns="0" bIns="0" rtlCol="0" anchor="ctr"/>
          <a:lstStyle/>
          <a:p>
            <a:pPr indent="0" marL="0">
              <a:buNone/>
            </a:pPr>
            <a:r>
              <a:rPr lang="en-US" sz="1400" b="1" spc="400" kern="0" dirty="0">
                <a:solidFill>
                  <a:schemeClr val="accent1"/>
                </a:solidFill>
              </a:rPr>
              <a:t>THE ASK</a:t>
            </a:r>
            <a:endParaRPr lang="en-US" sz="1400" dirty="0"/>
          </a:p>
        </p:txBody>
      </p:sp>
      <p:sp>
        <p:nvSpPr>
          <p:cNvPr id="3" name="Text 1"/>
          <p:cNvSpPr txBox="1"/>
          <p:nvPr/>
        </p:nvSpPr>
        <p:spPr>
          <a:xfrm>
            <a:off x="731520" y="1280160"/>
            <a:ext cx="10698480" cy="182880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Declare YANA State significant development and issue SEARs so the envelope can be tested in full</a:t>
            </a:r>
            <a:endParaRPr lang="en-US" sz="3400" dirty="0"/>
          </a:p>
        </p:txBody>
      </p:sp>
      <p:sp>
        <p:nvSpPr>
          <p:cNvPr id="4" name="tag-0"/>
          <p:cNvSpPr/>
          <p:nvPr/>
        </p:nvSpPr>
        <p:spPr>
          <a:xfrm>
            <a:off x="731520" y="3566160"/>
            <a:ext cx="1874520" cy="475488"/>
          </a:xfrm>
          <a:prstGeom prst="roundRect">
            <a:avLst>
              <a:gd name="adj" fmla="val 15385"/>
            </a:avLst>
          </a:prstGeom>
          <a:solidFill>
            <a:schemeClr val="accent3"/>
          </a:solidFill>
          <a:ln w="9525">
            <a:solidFill>
              <a:schemeClr val="bg1"/>
            </a:solidFill>
            <a:prstDash val="solid"/>
          </a:ln>
        </p:spPr>
      </p:sp>
      <p:sp>
        <p:nvSpPr>
          <p:cNvPr id="5" name="Text 3"/>
          <p:cNvSpPr txBox="1"/>
          <p:nvPr/>
        </p:nvSpPr>
        <p:spPr>
          <a:xfrm>
            <a:off x="731520" y="3566160"/>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6" name="Text 4"/>
          <p:cNvSpPr txBox="1"/>
          <p:nvPr/>
        </p:nvSpPr>
        <p:spPr>
          <a:xfrm>
            <a:off x="2834640" y="3520440"/>
            <a:ext cx="8595360" cy="1005840"/>
          </a:xfrm>
          <a:prstGeom prst="rect">
            <a:avLst/>
          </a:prstGeom>
          <a:noFill/>
          <a:ln/>
        </p:spPr>
        <p:txBody>
          <a:bodyPr wrap="square" lIns="0" tIns="0" rIns="0" bIns="0" rtlCol="0" anchor="t"/>
          <a:lstStyle/>
          <a:p>
            <a:pPr indent="0" marL="0">
              <a:buNone/>
            </a:pPr>
            <a:r>
              <a:rPr lang="en-US" sz="1600" dirty="0">
                <a:solidFill>
                  <a:schemeClr val="bg1"/>
                </a:solidFill>
              </a:rPr>
              <a:t>Amend The Hills LEP 2019 for the site: height of buildings, a site-specific clause 4.1A provision, and a provision securing 3% affordable housing in perpetuity.</a:t>
            </a:r>
            <a:endParaRPr lang="en-US" sz="1600" dirty="0"/>
          </a:p>
        </p:txBody>
      </p:sp>
      <p:sp>
        <p:nvSpPr>
          <p:cNvPr id="7" name="tag-1"/>
          <p:cNvSpPr/>
          <p:nvPr/>
        </p:nvSpPr>
        <p:spPr>
          <a:xfrm>
            <a:off x="731520" y="4754880"/>
            <a:ext cx="1874520" cy="475488"/>
          </a:xfrm>
          <a:prstGeom prst="roundRect">
            <a:avLst>
              <a:gd name="adj" fmla="val 15385"/>
            </a:avLst>
          </a:prstGeom>
          <a:solidFill>
            <a:schemeClr val="accent4"/>
          </a:solidFill>
          <a:ln w="9525">
            <a:solidFill>
              <a:schemeClr val="bg1"/>
            </a:solidFill>
            <a:prstDash val="solid"/>
          </a:ln>
        </p:spPr>
      </p:sp>
      <p:sp>
        <p:nvSpPr>
          <p:cNvPr id="8" name="Text 6"/>
          <p:cNvSpPr txBox="1"/>
          <p:nvPr/>
        </p:nvSpPr>
        <p:spPr>
          <a:xfrm>
            <a:off x="731520" y="4754880"/>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9" name="Text 7"/>
          <p:cNvSpPr txBox="1"/>
          <p:nvPr/>
        </p:nvSpPr>
        <p:spPr>
          <a:xfrm>
            <a:off x="2834640" y="4709160"/>
            <a:ext cx="8595360" cy="1005840"/>
          </a:xfrm>
          <a:prstGeom prst="rect">
            <a:avLst/>
          </a:prstGeom>
          <a:noFill/>
          <a:ln/>
        </p:spPr>
        <p:txBody>
          <a:bodyPr wrap="square" lIns="0" tIns="0" rIns="0" bIns="0" rtlCol="0" anchor="t"/>
          <a:lstStyle/>
          <a:p>
            <a:pPr indent="0" marL="0">
              <a:buNone/>
            </a:pPr>
            <a:r>
              <a:rPr lang="en-US" sz="1600" dirty="0">
                <a:solidFill>
                  <a:schemeClr val="bg1"/>
                </a:solidFill>
              </a:rPr>
              <a:t>Height, floor space, affordable housing and impacts to be tested through SEARs, design review, agency and council consultation and exhibition.</a:t>
            </a:r>
            <a:endParaRPr lang="en-US" sz="1600" dirty="0"/>
          </a:p>
        </p:txBody>
      </p:sp>
    </p:spTree>
  </p:cSld>
  <p:clrMapOvr>
    <a:masterClrMapping/>
  </p:clrMapOvr>
</p:sld>
</file>

<file path=ppt/theme/theme1.xml><?xml version="1.0" encoding="utf-8"?>
<a:theme xmlns:a="http://schemas.openxmlformats.org/drawingml/2006/main" name="YANA Eucalypt">
  <a:themeElements>
    <a:clrScheme name="YANA Eucalypt">
      <a:dk1>
        <a:srgbClr val="1E2420"/>
      </a:dk1>
      <a:lt1>
        <a:srgbClr val="FFFFFF"/>
      </a:lt1>
      <a:dk2>
        <a:srgbClr val="1F3B2D"/>
      </a:dk2>
      <a:lt2>
        <a:srgbClr val="EEF2EC"/>
      </a:lt2>
      <a:accent1>
        <a:srgbClr val="B8863B"/>
      </a:accent1>
      <a:accent2>
        <a:srgbClr val="2F6B8A"/>
      </a:accent2>
      <a:accent3>
        <a:srgbClr val="4E7D3A"/>
      </a:accent3>
      <a:accent4>
        <a:srgbClr val="A85A1E"/>
      </a:accent4>
      <a:accent5>
        <a:srgbClr val="6B7A70"/>
      </a:accent5>
      <a:accent6>
        <a:srgbClr val="D9E2D5"/>
      </a:accent6>
      <a:hlink>
        <a:srgbClr val="2F6B8A"/>
      </a:hlink>
      <a:folHlink>
        <a:srgbClr val="6B7A70"/>
      </a:folHlink>
    </a:clrScheme>
    <a:fontScheme name="YANA Eucaly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YANA — 77-79 Cecil Avenue &amp; 25 Hume Avenue, Castle Hill</dc:title>
  <dc:subject>PptxGenJS Presentation</dc:subject>
  <dc:creator>Project YANA (draft)</dc:creator>
  <cp:lastModifiedBy>Project YANA (draft)</cp:lastModifiedBy>
  <cp:revision>1</cp:revision>
  <dcterms:created xsi:type="dcterms:W3CDTF">2026-10-07T03:43:00Z</dcterms:created>
  <dcterms:modified xsi:type="dcterms:W3CDTF">2026-10-07T03:43:00Z</dcterms:modified>
</cp:coreProperties>
</file>